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Buenos días. Soy José Alfredo Román Cruz, profesor de ingeniería en sistemas computacionales en el Instituto Tecnológico de Tlaxiaco, en el estado de Oaxaca. En representación de nuestra universidad y de nuestros estudiantes investigadores, presentamos el Protocolo Raíz: una pieza de infraestructura de código abierto construida en Soroban que une a las comunidades originarias con el comercio justo global a través de la red Stellar.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Nuestros estudiantes de ingeniería no formularon este problema desde un escritorio. Viajaron a San José Xochixtlán, San Pablo Tijaltepec y Magdalena Peñasco. Documentaron que las maestras tejedoras y los caficultores realizan el 90% del trabajo físico, pero reciben menos del 10% del dinero. Raíz fue programado para romper este ciclo de intermediación abusiva mediante código.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gráfica representa los datos duros que los estudiantes del TecNM recopilaron en la sierra. En rojo vemos lo que recibe el productor: apenas un 7% en un huipil de casi un año de trabajo o 18% en café de especialidad. La barra naranja es el margen del coyote. La barra verde es lo que garantiza el Protocolo Raíz: 98% neto al creador y 2% al fondo comunal de obras.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Estas son las 4 brigadas reales de estudiantes del TecNM Tlaxiaco que fueron a la sierra. En San Juan Mixtepec documentaron que las artesanas ganan entre 1 y 2 pesos la hora mientras el coyote revende con 1000% de margen. En San José Xochixtlán un huipil tarda 9 meses. En San Juan Ñumí pierden cosechas en libretas viejas. Raíz fue diseñada a partir de estos testimonios reales.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lámina demuestra que la ingeniería de Raíz no es teórica. Los estudiantes llevaron celulares a las comunidades, midieron tiempos con cronómetro e identificaron el miedo al error de Doña Reyna y Doña Francisca. Gracias a ello se creó el Modo Abuelo de 112px, con voz en Mixteco y etiquetas QR físicas que reducen la fricción cognitiva a cero.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que Stellar lidere la tokenización de activos del mundo real, se requiere una forma inmutable y estándar de certificar la verdad física. Construimos el estándar de atestaciones en Soroban para que cualquier empresa o cooperativa pueda certificar calidad y origen antes de liberar pagos.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Nuestra arquitectura en Soroban cuenta con 3 contratos programados en Rust. En FairEscrow.rs el dinero del comprador queda bloqueado y protegido, y solo se libera cuando el lote llega con la calidad atestada. Si la pieza se revende meses después en una galería internacional, PerpetualRoyalties.rs le cobra el 10% al nuevo comprador y se lo manda a la artesana original.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México, los Usos y Costumbres indígenas tienen rango constitucional. La tecnología no viene a desplazar al maestro artesano ni a la asamblea comunal; la IA hace el trabajo pesado de satélites y estándares europeos, pero el sello final lo pone la autoridad comunitaria con su firma criptográfica.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el cliente que compra una prenda o una taza de café en Europa, la experiencia es mágica. Escanea la etiqueta y escucha la voz de la creadora en mixteco, comprobando en la blockchain que no se trata de una copia industrial.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un sistema tecnológico le pide a un campesino de 70 años escribir una contraseña en inglés de 24 palabras, está diseñado para excluirlo. Raíz hace que Stellar sea invisible: el productor habla en mixteco, usa un carnet QR físico y cobra sus pesos sin comisiones.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Siguiendo la metodología de Tech Rebel, nunca le cobramos al productor vulnerable. Nuestro cliente que paga es el importador europeo o la boutique de diseño que necesita certificar que sus productos no tienen deforestación ni plagio para evitar multas severas.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nos presentamos con una promesa teórica; tenemos código en producción y 52 pruebas automatizadas pasando al 100%. Además, al estar respaldados por el TecNM, aseguramos la formación permanente de talento joven en Rust y blockchain en el sur de México.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proyecto no es anónimo ni tercerizado: es el trabajo de más de 12 estudiantes de ingeniería en sistemas del TecNM Campus Tlaxiaco. Ellos fueron a las comunidades, levantaron los requerimientos, entrevistaron a los presidentes de las cooperativas y están programando los smart contracts en Soroban. Financiar a Raíz a través de Drips y Stellar es financiar directamente a la próxima generación de ingenieros indígenas de México.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Viajamos a Lisboa con la frente en alto. Invitamos a la Fundación Stellar a trabajar de la mano con el TecNM para ratificar el estándar SEP-RWA y demostrar que Stellar es la red líder para la dignidad humana y el comercio justo global.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Muchas gracias a todos por su atención y apoyo. Construyamos juntos el futuro de la inclusión financiera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325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HUB TecNM · INSTITUTO TECNOLÓGICO DE TLAXIACO (OAXACA, MÉXICO)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105156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PROTOCOLO RAÍZ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205740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A7F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Infraestructura de Atestaciones RWA y Pagos en Custodia Justa en Stellar Soroban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31520" y="2788920"/>
            <a:ext cx="10515600" cy="3657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3154680"/>
            <a:ext cx="3291840" cy="2240280"/>
          </a:xfrm>
          <a:prstGeom prst="roundRect">
            <a:avLst/>
          </a:prstGeom>
          <a:solidFill>
            <a:srgbClr val="0A3825"/>
          </a:solidFill>
          <a:ln w="19050">
            <a:solidFill>
              <a:srgbClr val="1A54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34290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PIEZA FALTANTE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005840" y="388620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 de atestaciones RWA en Soroban (el estándar equivalente a EAS en Stellar).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3400" y="3154680"/>
            <a:ext cx="3291840" cy="2240280"/>
          </a:xfrm>
          <a:prstGeom prst="roundRect">
            <a:avLst/>
          </a:prstGeom>
          <a:solidFill>
            <a:srgbClr val="0A3825"/>
          </a:solidFill>
          <a:ln w="19050">
            <a:solidFill>
              <a:srgbClr val="1A54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34290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IMPACTO INDÍGENA REAL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617720" y="388620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Protegiendo a maestras artesanas y caficultores contra márgenes abusivos del 400% al 1,000%.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955280" y="3154680"/>
            <a:ext cx="3291840" cy="2240280"/>
          </a:xfrm>
          <a:prstGeom prst="roundRect">
            <a:avLst/>
          </a:prstGeom>
          <a:solidFill>
            <a:srgbClr val="0A3825"/>
          </a:solidFill>
          <a:ln w="19050">
            <a:solidFill>
              <a:srgbClr val="1A54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0" y="34290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EXCELENCIA ACADÉMICA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229600" y="388620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Diseñado y probado por el TecNM: el sistema de ingeniería pública más grande de México.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31520" y="58521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Presentación Oficial · Desarrollada por el Tecnológico Nacional de México Campus Tlaxiaco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32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CRISIS DE EXTRACCIÓN DEL VALOR RURAL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0515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Falla Estructural de Mercado en la Base Productiva y Artesanal Indígena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105156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78308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32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Intermediarios Depredadores ("El Coyotaje")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772400" y="1783080"/>
            <a:ext cx="3108960" cy="32004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17830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400% a 1,000% de Margen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2148840"/>
            <a:ext cx="9966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coyote acapara hasta el 90% del valor final. Un huipil de 9 meses de tejido en telar de cintura comprado en $1,200 MXN se revende en galerías turísticas en $18,000 MXN, con 0% de retorno para la artesana.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3063240"/>
            <a:ext cx="105156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320040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32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Piratería Industrial y Pérdida de Identidad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772400" y="3200400"/>
            <a:ext cx="3108960" cy="32004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0" y="32004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Cero Protección Criptográfica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05840" y="3566160"/>
            <a:ext cx="9966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Prendas sintéticas y copias industriales fabricadas en serie compiten deslealmente contra los textiles ancestrales. Las artesanas carecen de certificados inmutables de origen para defender su patrimonio ante la ley.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4480560"/>
            <a:ext cx="105156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461772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32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Brecha de Exclusión Financiera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772400" y="4617720"/>
            <a:ext cx="3108960" cy="32004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0" y="46177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Más del 85% no bancarizado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05840" y="4983480"/>
            <a:ext cx="9966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productores carecen de cuentas bancarias, historial crediticio o conectividad continua. La banca tradicional los considera inviables, forzándolos a depender de anticipos predatorios en efectivo.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32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AUDITORÍA DE CAMPO: LO QUE ENCONTRARON LOS ESTUDIANTES EN OAXACA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0515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 de 50 Auditorías en 4 Comunidades Indígenas de la Sierra (PR #1.1 e Issue #18)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60350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9164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32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CADENA DE VALOR: ANTES VS. DESPUÉS DE RAÍZ PROTOCOL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914400" y="2011680"/>
            <a:ext cx="228600" cy="137160"/>
          </a:xfrm>
          <a:prstGeom prst="roundRect">
            <a:avLst/>
          </a:prstGeom>
          <a:solidFill>
            <a:srgbClr val="DC2626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196596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Productor (Antes)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743200" y="2011680"/>
            <a:ext cx="228600" cy="137160"/>
          </a:xfrm>
          <a:prstGeom prst="roundRect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3017520" y="196596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Coyote (Margen Antes)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0" y="2011680"/>
            <a:ext cx="228600" cy="137160"/>
          </a:xfrm>
          <a:prstGeom prst="roundRect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96596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Raíz (Soroban)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914400" y="2286000"/>
            <a:ext cx="5669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32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Huipil Tradicional de Telar (San José Xochixtlán)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14400" y="2514600"/>
            <a:ext cx="384048" cy="219456"/>
          </a:xfrm>
          <a:prstGeom prst="roundRect">
            <a:avLst/>
          </a:prstGeom>
          <a:solidFill>
            <a:srgbClr val="DC2626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2514600"/>
            <a:ext cx="3840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1298448" y="2514600"/>
            <a:ext cx="5102352" cy="219456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98448" y="2514600"/>
            <a:ext cx="51023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Coyotaje: 93%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914400" y="2770632"/>
            <a:ext cx="5376672" cy="219456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2770632"/>
            <a:ext cx="53766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Protocolo Raíz: 98% Directo al Productor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291072" y="2770632"/>
            <a:ext cx="201168" cy="219456"/>
          </a:xfrm>
          <a:prstGeom prst="round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3218688"/>
            <a:ext cx="5669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32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Café Pergamino de Altura (Magdalena Peñasco)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914400" y="3447288"/>
            <a:ext cx="987552" cy="219456"/>
          </a:xfrm>
          <a:prstGeom prst="roundRect">
            <a:avLst/>
          </a:prstGeom>
          <a:solidFill>
            <a:srgbClr val="DC2626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3447288"/>
            <a:ext cx="9875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1901952" y="3447288"/>
            <a:ext cx="4498848" cy="219456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901952" y="3447288"/>
            <a:ext cx="44988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Coyotaje: 82%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914400" y="3703320"/>
            <a:ext cx="5376672" cy="219456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3703320"/>
            <a:ext cx="53766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Protocolo Raíz: 98% Directo al Productor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291072" y="3703320"/>
            <a:ext cx="201168" cy="219456"/>
          </a:xfrm>
          <a:prstGeom prst="round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4151376"/>
            <a:ext cx="5669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32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Mezcal Puro Ancestral (San Carlos Yautepec)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914400" y="4379976"/>
            <a:ext cx="1207008" cy="219456"/>
          </a:xfrm>
          <a:prstGeom prst="roundRect">
            <a:avLst/>
          </a:prstGeom>
          <a:solidFill>
            <a:srgbClr val="DC2626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4379976"/>
            <a:ext cx="12070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22%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2121408" y="4379976"/>
            <a:ext cx="4279392" cy="219456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121408" y="4379976"/>
            <a:ext cx="42793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Coyotaje: 78%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914400" y="4636008"/>
            <a:ext cx="5376672" cy="219456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4400" y="4636008"/>
            <a:ext cx="53766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Protocolo Raíz: 98% Directo al Productor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291072" y="4636008"/>
            <a:ext cx="201168" cy="219456"/>
          </a:xfrm>
          <a:prstGeom prst="round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14400" y="5084064"/>
            <a:ext cx="5669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32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Miel Virgen de Campanilla (Comité Apícola)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914400" y="5312664"/>
            <a:ext cx="1371600" cy="219456"/>
          </a:xfrm>
          <a:prstGeom prst="roundRect">
            <a:avLst/>
          </a:prstGeom>
          <a:solidFill>
            <a:srgbClr val="DC2626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14400" y="5312664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2286000" y="5312664"/>
            <a:ext cx="4114800" cy="219456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286000" y="5312664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Coyotaje: 75%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914400" y="5568696"/>
            <a:ext cx="5376672" cy="219456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14400" y="5568696"/>
            <a:ext cx="53766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Protocolo Raíz: 98% Directo al Productor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6291072" y="5568696"/>
            <a:ext cx="201168" cy="219456"/>
          </a:xfrm>
          <a:prstGeom prst="round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040880" y="1554480"/>
            <a:ext cx="43891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223760" y="1664208"/>
            <a:ext cx="2560320" cy="256032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223760" y="166420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CHOQUE DEL 93%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7223760" y="19659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32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Huipil de Telar de Cintura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7223760" y="2267712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artesana invierte de 7 a 9 meses de tejido para recibir ~$1,200 MXN del coyote. La pieza se revende en galerías en ~$18,000 MXN: el intermediario acapara el 93% del dinero sin haber tejido un solo hilo.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7040880" y="3090672"/>
            <a:ext cx="43891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223760" y="3200400"/>
            <a:ext cx="2560320" cy="256032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223760" y="320040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AVANCE ACÚSTICO EN MIXTECO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7223760" y="350215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32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Voz en Tu’un Savi vs. Teclado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7223760" y="3803904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88% de los adultos mayores falló en apps bancarias por miedo a picar mal. Con el botón de voz gigante de 112px en lengua mixteca de Raíz, el 96% completó el registro en &lt;4 segundos sin ayuda.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7040880" y="4626864"/>
            <a:ext cx="43891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223760" y="4736592"/>
            <a:ext cx="2560320" cy="256032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223760" y="473659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DEMANDA DE IDENTIDAD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7223760" y="5038344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32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Etiquetas Físicas Hang-Tag QR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7223760" y="5340096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100% de las artesanas exigió etiquetas físicas con QR para coserlas a sus piezas y defenderse legalmente de la piratería de imitaciones chinas que invaden los tianguis de Oaxaca.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32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BRIGADAS ESTUDIANTILES: CASOS DE DOLOR REAL EN LA MIXTECA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0515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Estudiantes de Ing. en Sistemas del TecNM Tlaxiaco Levantando Datos en Territorio (Hito 1.1 · PRs #31, #38, #41)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256032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691640"/>
            <a:ext cx="2286000" cy="27432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6916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JUAN MIXTEPEC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68680" y="20574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32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Artesanías de Palma (Brahea dulcis)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25146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Equipo: Jazlynn Barrios, Isaías López, Rafael Ayala, Alex Victoria (7º Semestre)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68680" y="3063240"/>
            <a:ext cx="22860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315468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 El Abuso: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68680" y="338328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hrs de trabajo por pieza. El coyote paga $15 a $30 MXN ($1.00 a $2.00 MXN/hora).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68680" y="411480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Mercado / Salud: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68680" y="434340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Reventa urbana en $150-$300 MXN (+1000% markup). Pérdida de vista y deformación articular.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868680" y="5120640"/>
            <a:ext cx="2286000" cy="96012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5166360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i="1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“Te dicen: Te la tomo a 20 pesos, si no, ahí se queda... al menos es para el kilo de tortilla.”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429000" y="1554480"/>
            <a:ext cx="256032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566160" y="1691640"/>
            <a:ext cx="2286000" cy="27432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66160" y="16916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JOSÉ XOCHIXTLÁN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566160" y="20574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32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Huipil Ceremonial en Telar de Cintura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566160" y="25146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Equipo: Charlie Jared Castro, Dulce Maetzy Reyes, Brayan Pérez, José Manuel Hernández (5º Sem.)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566160" y="3063240"/>
            <a:ext cx="22860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66160" y="315468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 El Abuso: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566160" y="338328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a 9 meses de tejido (180 hrs). La artesana invierte $2,500 MXN de hilos de su bolsillo.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566160" y="411480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Mercado / Salud: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434340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Retrasos de meses en cobro, regateo a $8,000 MXN y plagio masivo de maquilas industriales.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566160" y="5120640"/>
            <a:ext cx="2286000" cy="96012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11880" y="5166360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i="1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“El cliente me encarga el huipil y tengo que esperar semanas o meses para recibir mi dinero.”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126480" y="1554480"/>
            <a:ext cx="256032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63640" y="1691640"/>
            <a:ext cx="2286000" cy="27432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63640" y="16916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JUAN ÑUMÍ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263640" y="20574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32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Miel Virgen de Campanilla (Unión Flor de la Mixteca)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263640" y="25146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Equipo: Luis Alexis Morales &amp; Equipo eduScrum / UMIZOOMI (Residencia TecNM)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263640" y="3063240"/>
            <a:ext cx="22860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63640" y="315468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 El Abuso: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263640" y="338328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Registros a mano en libretas viejas y hojas sueltas. 3 días para transcribir listas a mano.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263640" y="411480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Mercado / Salud: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263640" y="434340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Pérdida de hojas de cosecha; miel vendida 2 veces a clientes por falta de inventario digital.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263640" y="5120640"/>
            <a:ext cx="2286000" cy="96012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09360" y="5166360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i="1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Rogelio Martínez (Presidente): “A veces se ofrece miel y resulta que ya se había vendido a otro.”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8823960" y="1554480"/>
            <a:ext cx="256032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961120" y="1691640"/>
            <a:ext cx="2286000" cy="274320"/>
          </a:xfrm>
          <a:prstGeom prst="roundRect">
            <a:avLst/>
          </a:prstGeom>
          <a:solidFill>
            <a:srgbClr val="E0E7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961120" y="16916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730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TIJALTEPEC Y YUCUHITI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8961120" y="20574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32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Café de Altura (1,800 msnm) y Bordados Tradicionales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8961120" y="25146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Equipo: Nallely López García (Líder Estudiantil de Investigación)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8961120" y="3063240"/>
            <a:ext cx="22860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961120" y="315468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 El Abuso: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8961120" y="338328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Coyotes en carretera capturan 82% del café; falsificación de bordados con ropa industrial china.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8961120" y="411480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Mercado / Salud: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8961120" y="434340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Falta total de trazabilidad en parcela sin señal. Demanda urgente de blindaje de autenticidad.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8961120" y="5120640"/>
            <a:ext cx="2286000" cy="96012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006840" y="5166360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i="1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Doña Francisca (64 años): “Si le colgamos el QR al huipil, ya no lo confundirán con ropa china barata.”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32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AUDITORÍA DE USABILIDAD UX: ACCESIBILIDAD EN ADULTOS MAYORES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0515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Pruebas de Fricción Cognitiva en Campo con Doña Reyna (56) y Doña Francisca (64) en Patios Rurales (Hito 1.2)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347472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691640"/>
            <a:ext cx="3200400" cy="59436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719072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Los 3 Dolores de Fricción UX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1993392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Detectados por los alumnos en campo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868680" y="2423160"/>
            <a:ext cx="3200400" cy="114300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496312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32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Tecnofobia / Miedo al Error: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960120" y="2724912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Vacilación de &gt;10 seg ante la pantalla: “¿Se va a desconfigurar el teléfono si le pico?”. Miedo a borrar fotos familiares.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868680" y="3657600"/>
            <a:ext cx="3200400" cy="114300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3730752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32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Brillo y Reflejo Exterior: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960120" y="3959352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patios de la sierra la luz solar hace ilegibles textos delgados en gris o botones pequeños (&lt;48px).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868680" y="4892040"/>
            <a:ext cx="3200400" cy="114300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4965192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32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Desconfianza Institucional: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960120" y="5193792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Sellos gubernamentales asustan: “¿Esto es para pagar impuestos en Hacienda?”. Requieren sellos de protección cultural.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343400" y="1554480"/>
            <a:ext cx="347472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80560" y="1691640"/>
            <a:ext cx="3200400" cy="59436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26280" y="1719072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Arquitectura de Solución Raíz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26280" y="1993392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"Modo Abuelo" táctil y por voz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480560" y="2423160"/>
            <a:ext cx="3200400" cy="114300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0" y="2496312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32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Botones Táctiles Gigantes 112px: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572000" y="2724912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Touch-targets ampliados de fácil toque para dedos con callosidad agrícola o artritis artesanal.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480560" y="3657600"/>
            <a:ext cx="3200400" cy="114300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0" y="3730752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32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Voz Nativa en Tu’un Savi (Mixteco):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572000" y="3959352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Grabación a 24kbps Opus con Web Audio API. Cero teclado ni contraseñas escritas (Principio Zero-Typing).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480560" y="4892040"/>
            <a:ext cx="3200400" cy="114300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0" y="4965192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32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Buffer Offline-First IndexedDB: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572000" y="5193792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Garantía del 100% de datos guardados en la parcela aunque no exista cobertura celular ni señal 3G.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7955280" y="1554480"/>
            <a:ext cx="347472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092440" y="1691640"/>
            <a:ext cx="3200400" cy="59436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38160" y="1719072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Resultados Validados en Campo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138160" y="1993392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tareas completadas sin ayuda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8092440" y="2423160"/>
            <a:ext cx="3200400" cy="114300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183880" y="2496312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32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Adopción del QR en 6-9 Segundos: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8183880" y="2724912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Doña Francisca entendió el Hang-Tag al instante: “Para que nadie confunda la blusa de venados con ropa china”.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8092440" y="3657600"/>
            <a:ext cx="3200400" cy="114300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183880" y="3730752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32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 Completo en &lt;3 Minutos: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8183880" y="3959352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Campesinos completan el registro oral de café o textil en menos de 180 segundos.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8092440" y="4892040"/>
            <a:ext cx="3200400" cy="114300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183880" y="4965192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32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Cero Fugas Criptográficas: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8183880" y="5193792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Generación canónica SHA-256 local y firma Ed25519 automática sin exponer llaves privadas al usuario.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32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INFRAESTRUCTURA QUE LE FALTABA A STELLAR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0515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qué los Activos del Mundo Real (RWA) Necesitan Atestaciones en Cadena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50292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92024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BRECHA EN EL ECOSISTEMA HOY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2377440"/>
            <a:ext cx="448056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El referente de Ethereum (EAS):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Ethereum demostró el valor de las atestaciones con EAS, pero tarifas de gas de $5 a $25 USD hacen imposible su uso en micro-cosechas campesinas.
</a:t>
            </a:r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Estándares clásicos de Stellar: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SEP-10 (auth) y SEP-12 (KYC) son servicios web tradicionales fuera de la cadena; no operan como contratos inteligentes en Soroban.
</a:t>
            </a:r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Soluciones RWA fragmentadas: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un estándar abierto de atestaciones, cada proyecto agrícola o comercial se ve obligado a inventar contratos cerrados e incompatibles.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17920" y="1645920"/>
            <a:ext cx="5029200" cy="438912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86EFA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92024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NUESTRA APORTACIÓN ABIERTA (SEP-RWA)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92240" y="2377440"/>
            <a:ext cx="448056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El "EAS de Stellar":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registro canónico abierto de esquemas en Rust ejecutándose en Soroban Protocolo 22.
</a:t>
            </a:r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Costos de Microcentavos: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Finalidad en ~5 segundos y costo de $0.00001 USD por atestación, haciendo viables millones de registros rurales.
</a:t>
            </a:r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Gestión Nativa de Renta TTL: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Almacenamiento persistente en Soroban con extensión automática de vida útil por décadas.
</a:t>
            </a:r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Propuesta Formal SEP: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Especificación abierta lista para revisión del ecosistema en docs/SEP_RWA_ATTESTATION_DRAFT.md.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C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32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DE SMART CONTRACTS EN RUST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0515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Tres Contratos Modulares e Interconectados sobre Soroban Protocolo 22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9202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2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AttestationRegistry.rs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" y="22860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Notario Digital en Cadena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" y="2697480"/>
            <a:ext cx="27432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Almacena esquemas inmutables (AttestationSchema).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Registra actas notariales digitales verificadas.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Firmas criptográficas Ed25519 y digests SHA-256.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Extensión de renta TTL en Soroban (100k a 500k bloques).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43400" y="1645920"/>
            <a:ext cx="32918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17720" y="19202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2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FairEscrow.rs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617720" y="22860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Custodia Condicional Justa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617720" y="2697480"/>
            <a:ext cx="27432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Bloquea fondos en stablecoins (USDC / MXNe).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Libera el pago ÚNICAMENTE con atestación física válida.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Guardarraíles de precio: Rechaza compras por debajo del costo.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Cero comisiones abusivas para el campesino.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955280" y="1645920"/>
            <a:ext cx="32918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0" y="19202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2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PerpetualRoyalties.rs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0" y="22860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Regalías Perpetuas por Reventa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229600" y="2697480"/>
            <a:ext cx="27432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Cobra 10% automático en reventas secundarias en galerías.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Transfiere el dinero directo a la billetera de la artesana.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Destina 2% al Fondo Comunal de Obras (Tequio).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Protege el patrimonio cultural contra el plagio.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C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32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MODELO CENTAURO: ORÁCULOS DE IA Y USOS Y COSTUMBRES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0515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Conciliando el Derecho Consuetudinario Indígena con la Inteligencia de Máquina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502920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92024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ORÁCULOS DE IA AUTÓNOMOS (Rigor Técnico)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" y="2286000"/>
            <a:ext cx="44805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AIEUDRSatelliteOracle: </a:t>
            </a:r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Audita 5 años de imágenes satelitales Copernicus Sentinel-2 para certificar que el café cumple la ley de Cero Deforestación de la Unión Europea.
</a:t>
            </a:r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AIQualityOracle: </a:t>
            </a:r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Evalúa la densidad de urdimbre en textiles y el conteo de defectos de café SCAA (+85 pts) mediante visión artificial.
</a:t>
            </a:r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AIVoiceOracle: </a:t>
            </a:r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Traductor acústico que convierte notas de voz en lengua mixteca (Tu’un Savi) en registros técnicos canónicos.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217920" y="1645920"/>
            <a:ext cx="502920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92024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AUTORIDAD TRADICIONAL (Soberanía Humana)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92240" y="2286000"/>
            <a:ext cx="44805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Maestras Tejedoras (Doña Reyna): </a:t>
            </a:r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Inspeccionan la tensión del telar, la autenticidad de tintes naturales (grana/añil) y los motivos sagrados.
</a:t>
            </a:r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Maestros Palenqueros (David Mendoza / Celso): </a:t>
            </a:r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Realizan el perlado tradicional con venencia para certificar pureza 100% de maguey.
</a:t>
            </a:r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Autoridades del Tequio y Comisariados: </a:t>
            </a:r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Firman con su llave Ed25519 bajo el amparo del Artículo 2º Constitucional y la Ley de Patrimonio Indígena.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4983480"/>
            <a:ext cx="10515600" cy="1143000"/>
          </a:xfrm>
          <a:prstGeom prst="roundRect">
            <a:avLst/>
          </a:prstGeom>
          <a:solidFill>
            <a:srgbClr val="0A3825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5120640"/>
            <a:ext cx="9966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GARANTÍA DE DOBLE CANDADO EN SOROBAN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" y="5394960"/>
            <a:ext cx="9966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 la Inteligencia Artificial por sí sola ni el humano aislado pueden liberar los pagos en custodia. El contrato exige la firma conjunta de la máquina (análisis técnico) y la autoridad comunitaria (palabra de honor), erradicando fraudes y arbitrariedades.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C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32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ANCLA FÍSICA: PASAPORTE DIGITAL Y HANG-TAG QR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0515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Conectando el Huipil y el Café con la Blockchain de Stellar en Menos de 2 Segundos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9202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32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ETIQUETA FÍSICA KRAFT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926080"/>
            <a:ext cx="21031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Códigos QR vectoriales bajo norma ISO/IEC 18004 impresos en papel kraft y colgados con mecahilo de yute al bulto, prenda o botella.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29000" y="1645920"/>
            <a:ext cx="24688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11880" y="19202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611880" y="24688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32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ESCANEO INSTANTÁNEO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11880" y="2926080"/>
            <a:ext cx="21031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Cualquier teléfono inteligente en Lisboa, Zúrich o Ciudad de México escanea el código sin instalar aplicaciones ni crear cuentas cripto.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645920"/>
            <a:ext cx="24688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19202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309360" y="24688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32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VOZ Y TESTIMONIO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09360" y="2926080"/>
            <a:ext cx="21031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comprador escucha a Doña Reyna hablar en su lengua materna Tu’un Savi, conociendo el significado ancestral de cada bordado.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823960" y="1645920"/>
            <a:ext cx="24688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06840" y="19202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9006840" y="24688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32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PRUEBA INMUTABLE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006840" y="2926080"/>
            <a:ext cx="21031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Muestra el folio en Stellar, coordenadas satelitales GPS, certificado de cero deforestación y prueba de pago directo del 98% a la creadora.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C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32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WEB3 INVISIBLE: CERO FRASES SEMILLA Y LIQUIDACIÓN EN PARCELA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0515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Opera un Productor Rural Sin Cuenta Bancaria y Sin Conexión a Internet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1051560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78308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2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Interfaz por Voz (Zero-Typing)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297680" y="1755648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adultos mayores hablan con naturalidad en mixteco (Tu’un Savi) o español. El motor de IA extrae los kilos, la técnica y la comunidad sin tocar un teclado.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2514600"/>
            <a:ext cx="1051560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65176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2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Identidad sin Contraseñas (DID)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297680" y="2624328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Carnet físico laminado con QR o código numérico por mensaje de texto. Cero frases semilla de 24 palabras en inglés que memorizar o perder.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3383280"/>
            <a:ext cx="1051560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352044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2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Riel Bancario SPEI (Etherfuse)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297680" y="3493008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dólares digitales (USDC) del comprador internacional se convierten a pesos mexicanos (MXNe) y se dispersan a tarjetas del Banco del Bienestar por SPEI.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4251960"/>
            <a:ext cx="1051560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438912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2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Riel de Efectivo Móvil (MicoPay)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297680" y="4361688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Transportistas y comercios locales aliados actúan como cajeros móviles de acopio, entregando efectivo en mano contra código QR sin necesidad de bancos.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5120640"/>
            <a:ext cx="1051560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525780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2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Patrocinio Total del Gas (CAP-0015)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297680" y="5230368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protocolo patrocina el 100% de las comisiones de red con Fee-Bumps de Stellar. El productor nunca compra, administra ni gasta XLM.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C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32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DE NEGOCIO Y MERCADO (MARCO TECH REBEL B2B2C)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0515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Monetizando la Demanda Institucional mientras se Protege al Productor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9202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OFERTA PROTEGIDA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05840" y="21488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2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Comunidades Indígenas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005840" y="2560320"/>
            <a:ext cx="2743200" cy="3200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5603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32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 Comisión de Plataforma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" y="2971800"/>
            <a:ext cx="27432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50+ productores piloto en Oaxaca.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Retienen el 98% del precio de mayoreo directo.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10% de regalías perpetuas por reventa en galerías.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2% destinado a obras comunitarias (Tequio).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43400" y="1645920"/>
            <a:ext cx="32918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19202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CLIENTES QUE PAGAN (B2B)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617720" y="21488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2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Compradores Institucionales (PyMEs)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17720" y="2560320"/>
            <a:ext cx="2743200" cy="3200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7720" y="25603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32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1.5% a 2.5% Tarifa de Cumplimiento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17720" y="2971800"/>
            <a:ext cx="27432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Tostadurías de café de especialidad en Europa y EE.UU.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Boutiques de moda ética y galerías de diseño.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Necesidad urgente de cumplir con la ley europea EUDR (multas de hasta el 4% de facturación).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Inmunidad legal contra demandas por apropiación cultural.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955280" y="1645920"/>
            <a:ext cx="32918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0" y="19202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CONSUMIDOR FINAL (B2C)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229600" y="21488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2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Verificadores Conscientes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229600" y="2560320"/>
            <a:ext cx="2743200" cy="3200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0" y="25603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32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Sobreprecio por Autenticidad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29600" y="2971800"/>
            <a:ext cx="27432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Consumidores conscientes de alta gama en Lisboa, Zúrich, Nueva York y CDMX.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Pagan entre 30% y 50% de sobreprecio por piezas éticas y auténticas.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Escanean el QR para verificar el origen real.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C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32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TRACCIÓN EN PRODUCCIÓN: CÓDIGO, PRUEBAS Y RESPALDO TECNM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0515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Desarrollado por Open Hub TecNM: El Motor de Ingeniería Más Grande de México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512064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8288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 / 52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005840" y="2331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2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Pruebas Automatizadas en Verde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2697480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Suite completa de pruebas de CI en criptografía, oráculos de IA, ruteo fiduciario y contratos en Rust (0 fallos).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126480" y="1645920"/>
            <a:ext cx="512064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18288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Protocolo 22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6400800" y="2331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2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SDK de Soroban Oficial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0" y="2697480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contratos inteligentes en Rust compilados para la versión más reciente de la blockchain de Stellar.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3886200"/>
            <a:ext cx="512064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40690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MIT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005840" y="45720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2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Bien Público de Código Abierto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05840" y="4937760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Repositorio público y activo en github.com/Open-Hub-Tec/raiz con contribuciones diarias de alumnos residentes.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3886200"/>
            <a:ext cx="512064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40690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600k+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400800" y="45720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2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Nacional del TecNM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0" y="4937760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sistema universitario que forma al 40% de los ingenieros de México, garantizando continuidad y talento local.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C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32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EQUIPO HUMANO: TALENTO INDÍGENA E INGENIERÍA TECNM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0515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Estudiantes de Ing. en Sistemas del TecNM Tlaxiaco Construyendo Bienes Públicos Web3 (Drips Wave &amp; SCF)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512064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691640"/>
            <a:ext cx="4846320" cy="292608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709928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32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Liderazgo y Coordinación Académica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21031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32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Asesor Principal &amp; Coordinador: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017520" y="21031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Ing. José Alfredo Román Cruz (TecNM)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14400" y="2487168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32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Líder Estudiantil del Proyecto: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017520" y="248716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Nallely López García (Residencia Profesional)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14400" y="2871216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32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Institución Sede: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017520" y="2871216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Instituto Tecnológico de Tlaxiaco (Oaxaca, Mex.)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14400" y="3255264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32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 / Programa: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017520" y="3255264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Gestión de Proyectos &amp; Fundamentos de Ing. de Software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126480" y="1554480"/>
            <a:ext cx="512064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63640" y="1691640"/>
            <a:ext cx="4846320" cy="292608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1709928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Brigadas de Campo: Palma y Miel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09360" y="21031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32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Equipo Palma (San Juan Mixtepec):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412480" y="21031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Jazlynn Barrios Velasco (23620209)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309360" y="2487168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32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Investigador de Campo: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412480" y="248716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Isaías Brayan López Domínguez (23620031)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309360" y="2871216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32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Investigadores Asociados: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412480" y="2871216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Rafael Ayala Coronel (23620203), Alex Victoria (23620281)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309360" y="3255264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32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Equipo Miel (San Juan Ñumí):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412480" y="3255264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Luis Alexis Morales &amp; Equipo UMIZOOMI (eduScrum)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31520" y="3886200"/>
            <a:ext cx="512064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68680" y="4023360"/>
            <a:ext cx="4846320" cy="292608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4041648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Brigadas de Campo: Textil y Mezcal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14400" y="44348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32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Equipo Textil (San José Xochixtlán):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017520" y="44348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Charlie Jared Castro Rodríguez (5º Semestre)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914400" y="4818888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32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Equipo UX Accesibilidad: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017520" y="481888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Dulce Maetzy Reyes Hernández, Brayan Pérez González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914400" y="5202936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32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Investigador de Fricción: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017520" y="5202936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José Manuel Hernández Paz (5º Semestre)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914400" y="5586984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32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Equipo Mezcal (Yavi Tech):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017520" y="5586984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Lewis Noé Hernández, Nelson Macario Martínez, Luis García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126480" y="3886200"/>
            <a:ext cx="512064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263640" y="4023360"/>
            <a:ext cx="4846320" cy="292608"/>
          </a:xfrm>
          <a:prstGeom prst="roundRect">
            <a:avLst/>
          </a:prstGeom>
          <a:solidFill>
            <a:srgbClr val="E0E7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09360" y="4041648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30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Desarrollo Core &amp; Smart Contracts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309360" y="44348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32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 / Soroban &amp; Escrow: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8412480" y="44348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Integración Trustless Work Escrow &amp; LotPassport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309360" y="4818888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32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&amp; PWA Offline: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8412480" y="481888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19, IndexedDB Outbox y Modo Abuelo 112px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309360" y="5202936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32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Oráculos de IA Multimodales: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8412480" y="5202936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Normalización Tu’un Savi, Calidad SCAA y Satélite EUDR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309360" y="5586984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32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Gobernanza &amp; Drips Splits: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8412480" y="5586984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Hub TecNM – 100% Código Abierto con Licencia MIT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C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32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PROPUESTA ESTRATÉGICA PARA EL ECOSISTEMA STELLAR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0515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Co-Creando el Estándar Global de RWA en Soroban Rumbo a HackMeridian Lisboa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1051560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828800"/>
            <a:ext cx="73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828800" y="18288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32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Ratificación Formal del Estándar SEP-RWA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828800" y="214884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Colaborar con el Comité de Estándares de la SDF para formalizar nuestra propuesta abierta (docs/SEP_RWA_ATTESTATION_DRAFT.md) como el estándar oficial de atestaciones RWA para Soroban.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3108960"/>
            <a:ext cx="1051560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3291840"/>
            <a:ext cx="73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828800" y="32918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32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Ancla en HackMeridian y Meridian Lisboa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828800" y="361188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Presentar a Raíz en Lisboa como demostración insignia de la utilidad de Soroban en la economía real, con compras transfronterizas en vivo entre Europa y comunidades oaxaqueñas.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4572000"/>
            <a:ext cx="1051560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4754880"/>
            <a:ext cx="73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828800" y="47548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32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Apoyo al Semillero de Desarrolladores del Open Hub TecNM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828800" y="507492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Consolidar el programa de residencia profesional estudiantil para escalar el piloto comunitario de 50 a 500 cooperativas indígenas en el sur de México.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325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VERDADERA PROMESA DE STELLAR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164592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3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“Los activos del mundo real no son solo bonos del tesoro en bóvedas financieras; son el patrimonio, las cosechas y las manos de las comunidades que sostienen a nuestro mundo.”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731520" y="3566160"/>
            <a:ext cx="10515600" cy="3657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39319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REPOSITORIO DE CÓDIGO ABIERTO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114800" y="393192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https://github.com/Open-Hub-Tec/raiz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45720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INSTITUCIÓN EDUCATIVA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0" y="457200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Hub TecNM · Instituto Tecnológico de Tlaxiaco, Oaxaca, México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52120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INVESTIGADOR RESPONSABLE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0" y="521208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Prof. José Alfredo Román Cruz · tecnologicotlaxiaco@gmail.com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Instituto Tecnológico de Tlaxiaco / Open Hub TecNM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Protocolo Raíz - Presentación Oficial en Español</dc:title>
  <dc:subject>Infraestructura de Atestaciones RWA y Pagos en Custodia en Stellar Soroban</dc:subject>
  <dc:creator>Prof. José Alfredo Román Cruz &amp; Open Hub TecNM</dc:creator>
  <cp:lastModifiedBy>Prof. José Alfredo Román Cruz &amp; Open Hub TecNM</cp:lastModifiedBy>
  <cp:revision>1</cp:revision>
  <dcterms:created xsi:type="dcterms:W3CDTF">2026-09-30T21:15:34Z</dcterms:created>
  <dcterms:modified xsi:type="dcterms:W3CDTF">2026-09-30T21:15:34Z</dcterms:modified>
</cp:coreProperties>
</file>