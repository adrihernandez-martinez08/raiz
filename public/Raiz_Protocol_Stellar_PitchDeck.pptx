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Denelle and members of the Stellar leadership team. I am José Alfredo Román Cruz, computer science faculty lead at TecNM Tlaxiaco in Oaxaca, Mexico. Today, on behalf of our university and our student researchers, we present Raíz Protocol. Raíz is an open-source, foundational infrastructure primitive built on Soroban. It delivers what Stellar has uniquely championed from day one: transforming financial access from an abstract promise into mathematical certainty for the most marginalized, resilient producers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Denelle, our engineering students did not formulate this problem from a laboratory. They traveled directly to San José Xochixtlán, San Pablo Tijaltepec, and Magdalena Peñasco. They documented that indigenous master weavers and coffee farmers perform 90% of the labor, bear 100% of the physical risk, yet retain less than 10% of the economic value. The system is designed to keep them unbanked and dependent. Raíz was engineered to break this extraction cycle through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data was gathered directly by our student researchers in the Mixteca mountains. In the comparative chart on the left, you can see the red bars representing what the producer currently receives: only 7% for a master textile and 18% for specialty coffee. The orange bars represent what the coyote middleman captures. The green bar is what Raíz guarantees: 98% direct payout to the creator and 2% to the communal Tequio fund. Furthermore, our usability testing proved that replacing English text with spoken Mixtec improved elderly completion rates from 12% to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 has mastered payments and fiat anchors. But to become the global hub for Real-World Assets, the network requires a composable way to attest to physical truth on-chain. Without an attestation registry, every RWA project is forced to reinvent private, fragmented smart contracts. We built the 'EAS of Stellar' on Soroban: an open schema registry that allows any enterprise, cooperative, or audit firm to issue cryptographic attestations that directly govern conditional escrows.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architecture consists of three modular, audited Rust contracts. In FairEscrow.rs, international buyer funds are locked in stablecoins. The contract is cryptographically blind to human pressure: it cannot release payment until AttestationRegistry.rs verifies that the harvest or textile has passed sensory quality and physical reception standards. When secondary resale occurs in a luxury market, PerpetualRoyalties.rs automatically routes 10% back to the original indigenous artisan.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Oaxaca, indigenous communal governance is protected by Article 2 of the Mexican Constitution. We reject the idea that an artificial intelligence model or a smart contract should overrule a community elder. Under our Centaur Model, AI handles technical verification—such as satellite non-deforestation compliance required by the EU—while the master weaver or agricultural elder maintains sovereign authority with their cryptographic signature. Technology honors tradition, rather than displacing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consumer in Lisbon or Tokyo, the experience is instant. They scan the garment tag and listen to Doña Reyna speak in her mother tongue, with the immutable Stellar hash proving this huipil took 9 months of genuine craftsmanship.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financial system requires a 70-year-old indigenous farmer to write down a 24-word English seed phrase, it is exclusionary by design. Raíz makes Web3 completely invisible: the producer speaks in Mixtec, and the funds arrive in pesos without friction.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commercial engine follows the Tech Rebel product methodology. We do not charge the artisans. Our paying clients are European coffee importers and luxury boutiques who face severe regulatory penalties and brand crises if their supply chains lack verifiable proof. Raíz turns compliance into a seamless one-click Soroban transaction, generating sustainable revenue while protecting primary producers.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come before you today with working, tested code. Our test suite executes 52 automated end-to-end tests across cryptography, Soroban contracts, and payment oracles with zero failures. TecNM educates over 40% of all engineers in Mexico. By anchoring this initiative in our university, we are training a permanent cohort of Mexican Rust and Soroban developers dedicated to building public infrastructure for the Stellar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Denelle, we are traveling to Lisbon for HackMeridian with our heads held high. We ask the Stellar Development Foundation to partner with Open Hub TecNM: help us ratify the SEP-RWA standard, feature this project as proof of Soroban's real-world dominance, and support our university engineering hub. Together, let us demonstrate that Stellar is the premier blockchain infrastructure for human dignity, real-world assets, and inclusive global trade.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Denelle, thank you for building an ecosystem that makes this possible. We invite the Stellar Development Foundation to partner with Open Hub TecNM to make Raíz the global standard for RWA attestations on Soroban.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32517"/>
        </a:solidFill>
      </p:bgPr>
    </p:bg>
    <p:spTree>
      <p:nvGrpSpPr>
        <p:cNvPr id="1" name=""/>
        <p:cNvGrpSpPr/>
        <p:nvPr/>
      </p:nvGrpSpPr>
      <p:grpSpPr>
        <a:xfrm>
          <a:off x="0" y="0"/>
          <a:ext cx="0" cy="0"/>
          <a:chOff x="0" y="0"/>
          <a:chExt cx="0" cy="0"/>
        </a:xfrm>
      </p:grpSpPr>
      <p:sp>
        <p:nvSpPr>
          <p:cNvPr id="2" name="Text 0"/>
          <p:cNvSpPr/>
          <p:nvPr/>
        </p:nvSpPr>
        <p:spPr>
          <a:xfrm>
            <a:off x="731520" y="548640"/>
            <a:ext cx="10515600" cy="365760"/>
          </a:xfrm>
          <a:prstGeom prst="rect">
            <a:avLst/>
          </a:prstGeom>
          <a:noFill/>
          <a:ln/>
        </p:spPr>
        <p:txBody>
          <a:bodyPr wrap="square" rtlCol="0" anchor="ctr"/>
          <a:lstStyle/>
          <a:p>
            <a:pPr indent="0" marL="0">
              <a:buNone/>
            </a:pPr>
            <a:r>
              <a:rPr lang="en-US" sz="1100" b="1" spc="200" kern="0" dirty="0">
                <a:solidFill>
                  <a:srgbClr val="10B981"/>
                </a:solidFill>
                <a:latin typeface="Arial" pitchFamily="34" charset="0"/>
                <a:ea typeface="Arial" pitchFamily="34" charset="-122"/>
                <a:cs typeface="Arial" pitchFamily="34" charset="-120"/>
              </a:rPr>
              <a:t>OPEN HUB TecNM · INSTITUTO TECNOLÓGICO DE TLAXIACO (OAXACA, MEXICO)</a:t>
            </a:r>
            <a:endParaRPr lang="en-US" sz="1100" dirty="0"/>
          </a:p>
        </p:txBody>
      </p:sp>
      <p:sp>
        <p:nvSpPr>
          <p:cNvPr id="3" name="Text 1"/>
          <p:cNvSpPr/>
          <p:nvPr/>
        </p:nvSpPr>
        <p:spPr>
          <a:xfrm>
            <a:off x="731520" y="1051560"/>
            <a:ext cx="10515600" cy="1005840"/>
          </a:xfrm>
          <a:prstGeom prst="rect">
            <a:avLst/>
          </a:prstGeom>
          <a:noFill/>
          <a:ln/>
        </p:spPr>
        <p:txBody>
          <a:bodyPr wrap="square" rtlCol="0" anchor="ctr"/>
          <a:lstStyle/>
          <a:p>
            <a:pPr indent="0" marL="0">
              <a:buNone/>
            </a:pPr>
            <a:r>
              <a:rPr lang="en-US" sz="4400" b="1" dirty="0">
                <a:solidFill>
                  <a:srgbClr val="FFFFFF"/>
                </a:solidFill>
                <a:latin typeface="Arial" pitchFamily="34" charset="0"/>
                <a:ea typeface="Arial" pitchFamily="34" charset="-122"/>
                <a:cs typeface="Arial" pitchFamily="34" charset="-120"/>
              </a:rPr>
              <a:t>RAÍZ PROTOCOL</a:t>
            </a:r>
            <a:endParaRPr lang="en-US" sz="4400" dirty="0"/>
          </a:p>
        </p:txBody>
      </p:sp>
      <p:sp>
        <p:nvSpPr>
          <p:cNvPr id="4" name="Text 2"/>
          <p:cNvSpPr/>
          <p:nvPr/>
        </p:nvSpPr>
        <p:spPr>
          <a:xfrm>
            <a:off x="731520" y="2057400"/>
            <a:ext cx="10515600" cy="594360"/>
          </a:xfrm>
          <a:prstGeom prst="rect">
            <a:avLst/>
          </a:prstGeom>
          <a:noFill/>
          <a:ln/>
        </p:spPr>
        <p:txBody>
          <a:bodyPr wrap="square" rtlCol="0" anchor="ctr"/>
          <a:lstStyle/>
          <a:p>
            <a:pPr indent="0" marL="0">
              <a:buNone/>
            </a:pPr>
            <a:r>
              <a:rPr lang="en-US" sz="1700" dirty="0">
                <a:solidFill>
                  <a:srgbClr val="A7F3D0"/>
                </a:solidFill>
                <a:latin typeface="Arial" pitchFamily="34" charset="0"/>
                <a:ea typeface="Arial" pitchFamily="34" charset="-122"/>
                <a:cs typeface="Arial" pitchFamily="34" charset="-120"/>
              </a:rPr>
              <a:t>Verifiable RWA Attestation Infrastructure &amp; Programmable Fair Escrows on Stellar Soroban</a:t>
            </a:r>
            <a:endParaRPr lang="en-US" sz="1700" dirty="0"/>
          </a:p>
        </p:txBody>
      </p:sp>
      <p:sp>
        <p:nvSpPr>
          <p:cNvPr id="5" name="Shape 3"/>
          <p:cNvSpPr/>
          <p:nvPr/>
        </p:nvSpPr>
        <p:spPr>
          <a:xfrm>
            <a:off x="731520" y="2788920"/>
            <a:ext cx="10515600" cy="36576"/>
          </a:xfrm>
          <a:prstGeom prst="rect">
            <a:avLst/>
          </a:prstGeom>
          <a:solidFill>
            <a:srgbClr val="D97706"/>
          </a:solidFill>
          <a:ln w="12700">
            <a:solidFill>
              <a:srgbClr val="D97706"/>
            </a:solidFill>
            <a:prstDash val="solid"/>
          </a:ln>
        </p:spPr>
      </p:sp>
      <p:sp>
        <p:nvSpPr>
          <p:cNvPr id="6" name="Shape 4"/>
          <p:cNvSpPr/>
          <p:nvPr/>
        </p:nvSpPr>
        <p:spPr>
          <a:xfrm>
            <a:off x="731520" y="3154680"/>
            <a:ext cx="3291840" cy="2240280"/>
          </a:xfrm>
          <a:prstGeom prst="roundRect">
            <a:avLst/>
          </a:prstGeom>
          <a:solidFill>
            <a:srgbClr val="0A3825"/>
          </a:solidFill>
          <a:ln w="19050">
            <a:solidFill>
              <a:srgbClr val="1A543A"/>
            </a:solidFill>
            <a:prstDash val="solid"/>
          </a:ln>
        </p:spPr>
      </p:sp>
      <p:sp>
        <p:nvSpPr>
          <p:cNvPr id="7" name="Text 5"/>
          <p:cNvSpPr/>
          <p:nvPr/>
        </p:nvSpPr>
        <p:spPr>
          <a:xfrm>
            <a:off x="1005840" y="3429000"/>
            <a:ext cx="2743200" cy="365760"/>
          </a:xfrm>
          <a:prstGeom prst="rect">
            <a:avLst/>
          </a:prstGeom>
          <a:noFill/>
          <a:ln/>
        </p:spPr>
        <p:txBody>
          <a:bodyPr wrap="square" rtlCol="0" anchor="ctr"/>
          <a:lstStyle/>
          <a:p>
            <a:pPr indent="0" marL="0">
              <a:buNone/>
            </a:pPr>
            <a:r>
              <a:rPr lang="en-US" sz="1150" b="1" dirty="0">
                <a:solidFill>
                  <a:srgbClr val="D97706"/>
                </a:solidFill>
                <a:latin typeface="Arial" pitchFamily="34" charset="0"/>
                <a:ea typeface="Arial" pitchFamily="34" charset="-122"/>
                <a:cs typeface="Arial" pitchFamily="34" charset="-120"/>
              </a:rPr>
              <a:t>THE MISSING PRIMITIVE</a:t>
            </a:r>
            <a:endParaRPr lang="en-US" sz="1150" dirty="0"/>
          </a:p>
        </p:txBody>
      </p:sp>
      <p:sp>
        <p:nvSpPr>
          <p:cNvPr id="8" name="Text 6"/>
          <p:cNvSpPr/>
          <p:nvPr/>
        </p:nvSpPr>
        <p:spPr>
          <a:xfrm>
            <a:off x="1005840" y="3886200"/>
            <a:ext cx="2743200" cy="1280160"/>
          </a:xfrm>
          <a:prstGeom prst="rect">
            <a:avLst/>
          </a:prstGeom>
          <a:noFill/>
          <a:ln/>
        </p:spPr>
        <p:txBody>
          <a:bodyPr wrap="square" rtlCol="0" anchor="ctr"/>
          <a:lstStyle/>
          <a:p>
            <a:pPr indent="0" marL="0">
              <a:lnSpc>
                <a:spcPts val="1800"/>
              </a:lnSpc>
              <a:buNone/>
            </a:pPr>
            <a:r>
              <a:rPr lang="en-US" sz="1250" dirty="0">
                <a:solidFill>
                  <a:srgbClr val="FFFFFF"/>
                </a:solidFill>
                <a:latin typeface="Arial" pitchFamily="34" charset="0"/>
                <a:ea typeface="Arial" pitchFamily="34" charset="-122"/>
                <a:cs typeface="Arial" pitchFamily="34" charset="-120"/>
              </a:rPr>
              <a:t>On-chain RWA Attestation Registry for Soroban (EAS equivalent standard).</a:t>
            </a:r>
            <a:endParaRPr lang="en-US" sz="1250" dirty="0"/>
          </a:p>
        </p:txBody>
      </p:sp>
      <p:sp>
        <p:nvSpPr>
          <p:cNvPr id="9" name="Shape 7"/>
          <p:cNvSpPr/>
          <p:nvPr/>
        </p:nvSpPr>
        <p:spPr>
          <a:xfrm>
            <a:off x="4343400" y="3154680"/>
            <a:ext cx="3291840" cy="2240280"/>
          </a:xfrm>
          <a:prstGeom prst="roundRect">
            <a:avLst/>
          </a:prstGeom>
          <a:solidFill>
            <a:srgbClr val="0A3825"/>
          </a:solidFill>
          <a:ln w="19050">
            <a:solidFill>
              <a:srgbClr val="1A543A"/>
            </a:solidFill>
            <a:prstDash val="solid"/>
          </a:ln>
        </p:spPr>
      </p:sp>
      <p:sp>
        <p:nvSpPr>
          <p:cNvPr id="10" name="Text 8"/>
          <p:cNvSpPr/>
          <p:nvPr/>
        </p:nvSpPr>
        <p:spPr>
          <a:xfrm>
            <a:off x="4617720" y="3429000"/>
            <a:ext cx="2743200" cy="365760"/>
          </a:xfrm>
          <a:prstGeom prst="rect">
            <a:avLst/>
          </a:prstGeom>
          <a:noFill/>
          <a:ln/>
        </p:spPr>
        <p:txBody>
          <a:bodyPr wrap="square" rtlCol="0" anchor="ctr"/>
          <a:lstStyle/>
          <a:p>
            <a:pPr indent="0" marL="0">
              <a:buNone/>
            </a:pPr>
            <a:r>
              <a:rPr lang="en-US" sz="1150" b="1" dirty="0">
                <a:solidFill>
                  <a:srgbClr val="D97706"/>
                </a:solidFill>
                <a:latin typeface="Arial" pitchFamily="34" charset="0"/>
                <a:ea typeface="Arial" pitchFamily="34" charset="-122"/>
                <a:cs typeface="Arial" pitchFamily="34" charset="-120"/>
              </a:rPr>
              <a:t>INDIGENOUS IMPACT</a:t>
            </a:r>
            <a:endParaRPr lang="en-US" sz="1150" dirty="0"/>
          </a:p>
        </p:txBody>
      </p:sp>
      <p:sp>
        <p:nvSpPr>
          <p:cNvPr id="11" name="Text 9"/>
          <p:cNvSpPr/>
          <p:nvPr/>
        </p:nvSpPr>
        <p:spPr>
          <a:xfrm>
            <a:off x="4617720" y="3886200"/>
            <a:ext cx="2743200" cy="1280160"/>
          </a:xfrm>
          <a:prstGeom prst="rect">
            <a:avLst/>
          </a:prstGeom>
          <a:noFill/>
          <a:ln/>
        </p:spPr>
        <p:txBody>
          <a:bodyPr wrap="square" rtlCol="0" anchor="ctr"/>
          <a:lstStyle/>
          <a:p>
            <a:pPr indent="0" marL="0">
              <a:lnSpc>
                <a:spcPts val="1800"/>
              </a:lnSpc>
              <a:buNone/>
            </a:pPr>
            <a:r>
              <a:rPr lang="en-US" sz="1250" dirty="0">
                <a:solidFill>
                  <a:srgbClr val="FFFFFF"/>
                </a:solidFill>
                <a:latin typeface="Arial" pitchFamily="34" charset="0"/>
                <a:ea typeface="Arial" pitchFamily="34" charset="-122"/>
                <a:cs typeface="Arial" pitchFamily="34" charset="-120"/>
              </a:rPr>
              <a:t>Protecting Oaxacan master weavers &amp; coffee farmers from 400% coyote markups.</a:t>
            </a:r>
            <a:endParaRPr lang="en-US" sz="1250" dirty="0"/>
          </a:p>
        </p:txBody>
      </p:sp>
      <p:sp>
        <p:nvSpPr>
          <p:cNvPr id="12" name="Shape 10"/>
          <p:cNvSpPr/>
          <p:nvPr/>
        </p:nvSpPr>
        <p:spPr>
          <a:xfrm>
            <a:off x="7955280" y="3154680"/>
            <a:ext cx="3291840" cy="2240280"/>
          </a:xfrm>
          <a:prstGeom prst="roundRect">
            <a:avLst/>
          </a:prstGeom>
          <a:solidFill>
            <a:srgbClr val="0A3825"/>
          </a:solidFill>
          <a:ln w="19050">
            <a:solidFill>
              <a:srgbClr val="1A543A"/>
            </a:solidFill>
            <a:prstDash val="solid"/>
          </a:ln>
        </p:spPr>
      </p:sp>
      <p:sp>
        <p:nvSpPr>
          <p:cNvPr id="13" name="Text 11"/>
          <p:cNvSpPr/>
          <p:nvPr/>
        </p:nvSpPr>
        <p:spPr>
          <a:xfrm>
            <a:off x="8229600" y="3429000"/>
            <a:ext cx="2743200" cy="365760"/>
          </a:xfrm>
          <a:prstGeom prst="rect">
            <a:avLst/>
          </a:prstGeom>
          <a:noFill/>
          <a:ln/>
        </p:spPr>
        <p:txBody>
          <a:bodyPr wrap="square" rtlCol="0" anchor="ctr"/>
          <a:lstStyle/>
          <a:p>
            <a:pPr indent="0" marL="0">
              <a:buNone/>
            </a:pPr>
            <a:r>
              <a:rPr lang="en-US" sz="1150" b="1" dirty="0">
                <a:solidFill>
                  <a:srgbClr val="D97706"/>
                </a:solidFill>
                <a:latin typeface="Arial" pitchFamily="34" charset="0"/>
                <a:ea typeface="Arial" pitchFamily="34" charset="-122"/>
                <a:cs typeface="Arial" pitchFamily="34" charset="-120"/>
              </a:rPr>
              <a:t>ACADEMIC EXCELLENCE</a:t>
            </a:r>
            <a:endParaRPr lang="en-US" sz="1150" dirty="0"/>
          </a:p>
        </p:txBody>
      </p:sp>
      <p:sp>
        <p:nvSpPr>
          <p:cNvPr id="14" name="Text 12"/>
          <p:cNvSpPr/>
          <p:nvPr/>
        </p:nvSpPr>
        <p:spPr>
          <a:xfrm>
            <a:off x="8229600" y="3886200"/>
            <a:ext cx="2743200" cy="1280160"/>
          </a:xfrm>
          <a:prstGeom prst="rect">
            <a:avLst/>
          </a:prstGeom>
          <a:noFill/>
          <a:ln/>
        </p:spPr>
        <p:txBody>
          <a:bodyPr wrap="square" rtlCol="0" anchor="ctr"/>
          <a:lstStyle/>
          <a:p>
            <a:pPr indent="0" marL="0">
              <a:lnSpc>
                <a:spcPts val="1800"/>
              </a:lnSpc>
              <a:buNone/>
            </a:pPr>
            <a:r>
              <a:rPr lang="en-US" sz="1250" dirty="0">
                <a:solidFill>
                  <a:srgbClr val="FFFFFF"/>
                </a:solidFill>
                <a:latin typeface="Arial" pitchFamily="34" charset="0"/>
                <a:ea typeface="Arial" pitchFamily="34" charset="-122"/>
                <a:cs typeface="Arial" pitchFamily="34" charset="-120"/>
              </a:rPr>
              <a:t>Engineered &amp; verified by TecNM: Mexico’s largest public engineering university.</a:t>
            </a:r>
            <a:endParaRPr lang="en-US" sz="1250" dirty="0"/>
          </a:p>
        </p:txBody>
      </p:sp>
      <p:sp>
        <p:nvSpPr>
          <p:cNvPr id="15" name="Text 13"/>
          <p:cNvSpPr/>
          <p:nvPr/>
        </p:nvSpPr>
        <p:spPr>
          <a:xfrm>
            <a:off x="731520" y="5852160"/>
            <a:ext cx="10515600" cy="365760"/>
          </a:xfrm>
          <a:prstGeom prst="rect">
            <a:avLst/>
          </a:prstGeom>
          <a:noFill/>
          <a:ln/>
        </p:spPr>
        <p:txBody>
          <a:bodyPr wrap="square" rtlCol="0" anchor="ctr"/>
          <a:lstStyle/>
          <a:p>
            <a:pPr indent="0" marL="0">
              <a:buNone/>
            </a:pPr>
            <a:r>
              <a:rPr lang="en-US" sz="1100" i="1" dirty="0">
                <a:solidFill>
                  <a:srgbClr val="9CA3AF"/>
                </a:solidFill>
                <a:latin typeface="Arial" pitchFamily="34" charset="0"/>
                <a:ea typeface="Arial" pitchFamily="34" charset="-122"/>
                <a:cs typeface="Arial" pitchFamily="34" charset="-120"/>
              </a:rPr>
              <a:t>Prepared for Denelle Dixon &amp; The Stellar Development Foundation (SDF) Leadership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THE RURAL VALUE EXTRACTION CRISIS</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Structural Market Failure at the Indigenous Agricultural &amp; Artisan Base</a:t>
            </a:r>
            <a:endParaRPr lang="en-US" sz="1400" dirty="0"/>
          </a:p>
        </p:txBody>
      </p:sp>
      <p:sp>
        <p:nvSpPr>
          <p:cNvPr id="4" name="Shape 2"/>
          <p:cNvSpPr/>
          <p:nvPr/>
        </p:nvSpPr>
        <p:spPr>
          <a:xfrm>
            <a:off x="731520" y="1645920"/>
            <a:ext cx="10515600" cy="1234440"/>
          </a:xfrm>
          <a:prstGeom prst="roundRect">
            <a:avLst/>
          </a:prstGeom>
          <a:solidFill>
            <a:srgbClr val="FFFFFF"/>
          </a:solidFill>
          <a:ln w="12700">
            <a:solidFill>
              <a:srgbClr val="E5E7EB"/>
            </a:solidFill>
            <a:prstDash val="solid"/>
          </a:ln>
        </p:spPr>
      </p:sp>
      <p:sp>
        <p:nvSpPr>
          <p:cNvPr id="5" name="Text 3"/>
          <p:cNvSpPr/>
          <p:nvPr/>
        </p:nvSpPr>
        <p:spPr>
          <a:xfrm>
            <a:off x="1005840" y="1783080"/>
            <a:ext cx="5943600" cy="320040"/>
          </a:xfrm>
          <a:prstGeom prst="rect">
            <a:avLst/>
          </a:prstGeom>
          <a:noFill/>
          <a:ln/>
        </p:spPr>
        <p:txBody>
          <a:bodyPr wrap="square" rtlCol="0" anchor="ctr"/>
          <a:lstStyle/>
          <a:p>
            <a:pPr indent="0" marL="0">
              <a:buNone/>
            </a:pPr>
            <a:r>
              <a:rPr lang="en-US" sz="1500" b="1" dirty="0">
                <a:solidFill>
                  <a:srgbClr val="032517"/>
                </a:solidFill>
                <a:latin typeface="Arial" pitchFamily="34" charset="0"/>
                <a:ea typeface="Arial" pitchFamily="34" charset="-122"/>
                <a:cs typeface="Arial" pitchFamily="34" charset="-120"/>
              </a:rPr>
              <a:t>Predatory Middlemen ("Los Coyotes")</a:t>
            </a:r>
            <a:endParaRPr lang="en-US" sz="1500" dirty="0"/>
          </a:p>
        </p:txBody>
      </p:sp>
      <p:sp>
        <p:nvSpPr>
          <p:cNvPr id="6" name="Shape 4"/>
          <p:cNvSpPr/>
          <p:nvPr/>
        </p:nvSpPr>
        <p:spPr>
          <a:xfrm>
            <a:off x="7772400" y="1783080"/>
            <a:ext cx="3108960" cy="320040"/>
          </a:xfrm>
          <a:prstGeom prst="roundRect">
            <a:avLst/>
          </a:prstGeom>
          <a:solidFill>
            <a:srgbClr val="FEE2E2"/>
          </a:solidFill>
          <a:ln w="12700">
            <a:solidFill>
              <a:srgbClr val="F87171"/>
            </a:solidFill>
            <a:prstDash val="solid"/>
          </a:ln>
        </p:spPr>
      </p:sp>
      <p:sp>
        <p:nvSpPr>
          <p:cNvPr id="7" name="Text 5"/>
          <p:cNvSpPr/>
          <p:nvPr/>
        </p:nvSpPr>
        <p:spPr>
          <a:xfrm>
            <a:off x="7772400" y="1783080"/>
            <a:ext cx="3108960" cy="320040"/>
          </a:xfrm>
          <a:prstGeom prst="rect">
            <a:avLst/>
          </a:prstGeom>
          <a:noFill/>
          <a:ln/>
        </p:spPr>
        <p:txBody>
          <a:bodyPr wrap="square" rtlCol="0" anchor="ctr"/>
          <a:lstStyle/>
          <a:p>
            <a:pPr algn="ctr" indent="0" marL="0">
              <a:buNone/>
            </a:pPr>
            <a:r>
              <a:rPr lang="en-US" sz="1100" b="1" dirty="0">
                <a:solidFill>
                  <a:srgbClr val="991B1B"/>
                </a:solidFill>
                <a:latin typeface="Arial" pitchFamily="34" charset="0"/>
                <a:ea typeface="Arial" pitchFamily="34" charset="-122"/>
                <a:cs typeface="Arial" pitchFamily="34" charset="-120"/>
              </a:rPr>
              <a:t>400% - 1,000% Markup</a:t>
            </a:r>
            <a:endParaRPr lang="en-US" sz="1100" dirty="0"/>
          </a:p>
        </p:txBody>
      </p:sp>
      <p:sp>
        <p:nvSpPr>
          <p:cNvPr id="8" name="Text 6"/>
          <p:cNvSpPr/>
          <p:nvPr/>
        </p:nvSpPr>
        <p:spPr>
          <a:xfrm>
            <a:off x="1005840" y="2148840"/>
            <a:ext cx="9966960" cy="640080"/>
          </a:xfrm>
          <a:prstGeom prst="rect">
            <a:avLst/>
          </a:prstGeom>
          <a:noFill/>
          <a:ln/>
        </p:spPr>
        <p:txBody>
          <a:bodyPr wrap="square" rtlCol="0" anchor="ctr"/>
          <a:lstStyle/>
          <a:p>
            <a:pPr indent="0" marL="0">
              <a:lnSpc>
                <a:spcPts val="1600"/>
              </a:lnSpc>
              <a:buNone/>
            </a:pPr>
            <a:r>
              <a:rPr lang="en-US" sz="1200" dirty="0">
                <a:solidFill>
                  <a:srgbClr val="1C2421"/>
                </a:solidFill>
                <a:latin typeface="Arial" pitchFamily="34" charset="0"/>
                <a:ea typeface="Arial" pitchFamily="34" charset="-122"/>
                <a:cs typeface="Arial" pitchFamily="34" charset="-120"/>
              </a:rPr>
              <a:t>Middlemen capture up to 90% of final retail value. A 9-month handwoven textile bought for $15-$25 USD is resold in metropolitan galleries for $300-$600 USD with 0% residual upside returning to the creator.</a:t>
            </a:r>
            <a:endParaRPr lang="en-US" sz="1200" dirty="0"/>
          </a:p>
        </p:txBody>
      </p:sp>
      <p:sp>
        <p:nvSpPr>
          <p:cNvPr id="9" name="Shape 7"/>
          <p:cNvSpPr/>
          <p:nvPr/>
        </p:nvSpPr>
        <p:spPr>
          <a:xfrm>
            <a:off x="731520" y="3063240"/>
            <a:ext cx="10515600" cy="1234440"/>
          </a:xfrm>
          <a:prstGeom prst="roundRect">
            <a:avLst/>
          </a:prstGeom>
          <a:solidFill>
            <a:srgbClr val="FFFFFF"/>
          </a:solidFill>
          <a:ln w="12700">
            <a:solidFill>
              <a:srgbClr val="E5E7EB"/>
            </a:solidFill>
            <a:prstDash val="solid"/>
          </a:ln>
        </p:spPr>
      </p:sp>
      <p:sp>
        <p:nvSpPr>
          <p:cNvPr id="10" name="Text 8"/>
          <p:cNvSpPr/>
          <p:nvPr/>
        </p:nvSpPr>
        <p:spPr>
          <a:xfrm>
            <a:off x="1005840" y="3200400"/>
            <a:ext cx="5943600" cy="320040"/>
          </a:xfrm>
          <a:prstGeom prst="rect">
            <a:avLst/>
          </a:prstGeom>
          <a:noFill/>
          <a:ln/>
        </p:spPr>
        <p:txBody>
          <a:bodyPr wrap="square" rtlCol="0" anchor="ctr"/>
          <a:lstStyle/>
          <a:p>
            <a:pPr indent="0" marL="0">
              <a:buNone/>
            </a:pPr>
            <a:r>
              <a:rPr lang="en-US" sz="1500" b="1" dirty="0">
                <a:solidFill>
                  <a:srgbClr val="032517"/>
                </a:solidFill>
                <a:latin typeface="Arial" pitchFamily="34" charset="0"/>
                <a:ea typeface="Arial" pitchFamily="34" charset="-122"/>
                <a:cs typeface="Arial" pitchFamily="34" charset="-120"/>
              </a:rPr>
              <a:t>Industrial Piracy &amp; Loss of Provenance</a:t>
            </a:r>
            <a:endParaRPr lang="en-US" sz="1500" dirty="0"/>
          </a:p>
        </p:txBody>
      </p:sp>
      <p:sp>
        <p:nvSpPr>
          <p:cNvPr id="11" name="Shape 9"/>
          <p:cNvSpPr/>
          <p:nvPr/>
        </p:nvSpPr>
        <p:spPr>
          <a:xfrm>
            <a:off x="7772400" y="3200400"/>
            <a:ext cx="3108960" cy="320040"/>
          </a:xfrm>
          <a:prstGeom prst="roundRect">
            <a:avLst/>
          </a:prstGeom>
          <a:solidFill>
            <a:srgbClr val="FEE2E2"/>
          </a:solidFill>
          <a:ln w="12700">
            <a:solidFill>
              <a:srgbClr val="F87171"/>
            </a:solidFill>
            <a:prstDash val="solid"/>
          </a:ln>
        </p:spPr>
      </p:sp>
      <p:sp>
        <p:nvSpPr>
          <p:cNvPr id="12" name="Text 10"/>
          <p:cNvSpPr/>
          <p:nvPr/>
        </p:nvSpPr>
        <p:spPr>
          <a:xfrm>
            <a:off x="7772400" y="3200400"/>
            <a:ext cx="3108960" cy="320040"/>
          </a:xfrm>
          <a:prstGeom prst="rect">
            <a:avLst/>
          </a:prstGeom>
          <a:noFill/>
          <a:ln/>
        </p:spPr>
        <p:txBody>
          <a:bodyPr wrap="square" rtlCol="0" anchor="ctr"/>
          <a:lstStyle/>
          <a:p>
            <a:pPr algn="ctr" indent="0" marL="0">
              <a:buNone/>
            </a:pPr>
            <a:r>
              <a:rPr lang="en-US" sz="1100" b="1" dirty="0">
                <a:solidFill>
                  <a:srgbClr val="991B1B"/>
                </a:solidFill>
                <a:latin typeface="Arial" pitchFamily="34" charset="0"/>
                <a:ea typeface="Arial" pitchFamily="34" charset="-122"/>
                <a:cs typeface="Arial" pitchFamily="34" charset="-120"/>
              </a:rPr>
              <a:t>Zero Cryptographic Proof</a:t>
            </a:r>
            <a:endParaRPr lang="en-US" sz="1100" dirty="0"/>
          </a:p>
        </p:txBody>
      </p:sp>
      <p:sp>
        <p:nvSpPr>
          <p:cNvPr id="13" name="Text 11"/>
          <p:cNvSpPr/>
          <p:nvPr/>
        </p:nvSpPr>
        <p:spPr>
          <a:xfrm>
            <a:off x="1005840" y="3566160"/>
            <a:ext cx="9966960" cy="640080"/>
          </a:xfrm>
          <a:prstGeom prst="rect">
            <a:avLst/>
          </a:prstGeom>
          <a:noFill/>
          <a:ln/>
        </p:spPr>
        <p:txBody>
          <a:bodyPr wrap="square" rtlCol="0" anchor="ctr"/>
          <a:lstStyle/>
          <a:p>
            <a:pPr indent="0" marL="0">
              <a:lnSpc>
                <a:spcPts val="1600"/>
              </a:lnSpc>
              <a:buNone/>
            </a:pPr>
            <a:r>
              <a:rPr lang="en-US" sz="1200" dirty="0">
                <a:solidFill>
                  <a:srgbClr val="1C2421"/>
                </a:solidFill>
                <a:latin typeface="Arial" pitchFamily="34" charset="0"/>
                <a:ea typeface="Arial" pitchFamily="34" charset="-122"/>
                <a:cs typeface="Arial" pitchFamily="34" charset="-120"/>
              </a:rPr>
              <a:t>Global fast-fashion and factory imitations cannibalize ancestral designs. Artisans lack verifiable, legally binding certificates of origin to defend their collective heritage against corporate appropriation.</a:t>
            </a:r>
            <a:endParaRPr lang="en-US" sz="1200" dirty="0"/>
          </a:p>
        </p:txBody>
      </p:sp>
      <p:sp>
        <p:nvSpPr>
          <p:cNvPr id="14" name="Shape 12"/>
          <p:cNvSpPr/>
          <p:nvPr/>
        </p:nvSpPr>
        <p:spPr>
          <a:xfrm>
            <a:off x="731520" y="4480560"/>
            <a:ext cx="10515600" cy="1234440"/>
          </a:xfrm>
          <a:prstGeom prst="roundRect">
            <a:avLst/>
          </a:prstGeom>
          <a:solidFill>
            <a:srgbClr val="FFFFFF"/>
          </a:solidFill>
          <a:ln w="12700">
            <a:solidFill>
              <a:srgbClr val="E5E7EB"/>
            </a:solidFill>
            <a:prstDash val="solid"/>
          </a:ln>
        </p:spPr>
      </p:sp>
      <p:sp>
        <p:nvSpPr>
          <p:cNvPr id="15" name="Text 13"/>
          <p:cNvSpPr/>
          <p:nvPr/>
        </p:nvSpPr>
        <p:spPr>
          <a:xfrm>
            <a:off x="1005840" y="4617720"/>
            <a:ext cx="5943600" cy="320040"/>
          </a:xfrm>
          <a:prstGeom prst="rect">
            <a:avLst/>
          </a:prstGeom>
          <a:noFill/>
          <a:ln/>
        </p:spPr>
        <p:txBody>
          <a:bodyPr wrap="square" rtlCol="0" anchor="ctr"/>
          <a:lstStyle/>
          <a:p>
            <a:pPr indent="0" marL="0">
              <a:buNone/>
            </a:pPr>
            <a:r>
              <a:rPr lang="en-US" sz="1500" b="1" dirty="0">
                <a:solidFill>
                  <a:srgbClr val="032517"/>
                </a:solidFill>
                <a:latin typeface="Arial" pitchFamily="34" charset="0"/>
                <a:ea typeface="Arial" pitchFamily="34" charset="-122"/>
                <a:cs typeface="Arial" pitchFamily="34" charset="-120"/>
              </a:rPr>
              <a:t>The Unbanked Last-Mile Chasm</a:t>
            </a:r>
            <a:endParaRPr lang="en-US" sz="1500" dirty="0"/>
          </a:p>
        </p:txBody>
      </p:sp>
      <p:sp>
        <p:nvSpPr>
          <p:cNvPr id="16" name="Shape 14"/>
          <p:cNvSpPr/>
          <p:nvPr/>
        </p:nvSpPr>
        <p:spPr>
          <a:xfrm>
            <a:off x="7772400" y="4617720"/>
            <a:ext cx="3108960" cy="320040"/>
          </a:xfrm>
          <a:prstGeom prst="roundRect">
            <a:avLst/>
          </a:prstGeom>
          <a:solidFill>
            <a:srgbClr val="FEE2E2"/>
          </a:solidFill>
          <a:ln w="12700">
            <a:solidFill>
              <a:srgbClr val="F87171"/>
            </a:solidFill>
            <a:prstDash val="solid"/>
          </a:ln>
        </p:spPr>
      </p:sp>
      <p:sp>
        <p:nvSpPr>
          <p:cNvPr id="17" name="Text 15"/>
          <p:cNvSpPr/>
          <p:nvPr/>
        </p:nvSpPr>
        <p:spPr>
          <a:xfrm>
            <a:off x="7772400" y="4617720"/>
            <a:ext cx="3108960" cy="320040"/>
          </a:xfrm>
          <a:prstGeom prst="rect">
            <a:avLst/>
          </a:prstGeom>
          <a:noFill/>
          <a:ln/>
        </p:spPr>
        <p:txBody>
          <a:bodyPr wrap="square" rtlCol="0" anchor="ctr"/>
          <a:lstStyle/>
          <a:p>
            <a:pPr algn="ctr" indent="0" marL="0">
              <a:buNone/>
            </a:pPr>
            <a:r>
              <a:rPr lang="en-US" sz="1100" b="1" dirty="0">
                <a:solidFill>
                  <a:srgbClr val="991B1B"/>
                </a:solidFill>
                <a:latin typeface="Arial" pitchFamily="34" charset="0"/>
                <a:ea typeface="Arial" pitchFamily="34" charset="-122"/>
                <a:cs typeface="Arial" pitchFamily="34" charset="-120"/>
              </a:rPr>
              <a:t>85%+ Without Banking Access</a:t>
            </a:r>
            <a:endParaRPr lang="en-US" sz="1100" dirty="0"/>
          </a:p>
        </p:txBody>
      </p:sp>
      <p:sp>
        <p:nvSpPr>
          <p:cNvPr id="18" name="Text 16"/>
          <p:cNvSpPr/>
          <p:nvPr/>
        </p:nvSpPr>
        <p:spPr>
          <a:xfrm>
            <a:off x="1005840" y="4983480"/>
            <a:ext cx="9966960" cy="640080"/>
          </a:xfrm>
          <a:prstGeom prst="rect">
            <a:avLst/>
          </a:prstGeom>
          <a:noFill/>
          <a:ln/>
        </p:spPr>
        <p:txBody>
          <a:bodyPr wrap="square" rtlCol="0" anchor="ctr"/>
          <a:lstStyle/>
          <a:p>
            <a:pPr indent="0" marL="0">
              <a:lnSpc>
                <a:spcPts val="1600"/>
              </a:lnSpc>
              <a:buNone/>
            </a:pPr>
            <a:r>
              <a:rPr lang="en-US" sz="1200" dirty="0">
                <a:solidFill>
                  <a:srgbClr val="1C2421"/>
                </a:solidFill>
                <a:latin typeface="Arial" pitchFamily="34" charset="0"/>
                <a:ea typeface="Arial" pitchFamily="34" charset="-122"/>
                <a:cs typeface="Arial" pitchFamily="34" charset="-120"/>
              </a:rPr>
              <a:t>Producers lack bank accounts, tax IDs, credit scoring, or reliable connectivity. Traditional financial institutions deem them unviable, trapping them into predatory cash advances for survival.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EMPIRICAL FIELD AUDIT: WHAT OUR STUDENTS DISCOVERED IN OAXACA</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Field Findings from 50 In-Person Producer Audits Across 4 Mountain Communities (PR #1.1 &amp; Issue #18)</a:t>
            </a:r>
            <a:endParaRPr lang="en-US" sz="1400" dirty="0"/>
          </a:p>
        </p:txBody>
      </p:sp>
      <p:sp>
        <p:nvSpPr>
          <p:cNvPr id="4" name="Shape 2"/>
          <p:cNvSpPr/>
          <p:nvPr/>
        </p:nvSpPr>
        <p:spPr>
          <a:xfrm>
            <a:off x="731520" y="1554480"/>
            <a:ext cx="6035040" cy="4572000"/>
          </a:xfrm>
          <a:prstGeom prst="roundRect">
            <a:avLst/>
          </a:prstGeom>
          <a:solidFill>
            <a:srgbClr val="FFFFFF"/>
          </a:solidFill>
          <a:ln w="12700">
            <a:solidFill>
              <a:srgbClr val="E5E7EB"/>
            </a:solidFill>
            <a:prstDash val="solid"/>
          </a:ln>
        </p:spPr>
      </p:sp>
      <p:sp>
        <p:nvSpPr>
          <p:cNvPr id="5" name="Text 3"/>
          <p:cNvSpPr/>
          <p:nvPr/>
        </p:nvSpPr>
        <p:spPr>
          <a:xfrm>
            <a:off x="914400" y="1691640"/>
            <a:ext cx="5669280" cy="274320"/>
          </a:xfrm>
          <a:prstGeom prst="rect">
            <a:avLst/>
          </a:prstGeom>
          <a:noFill/>
          <a:ln/>
        </p:spPr>
        <p:txBody>
          <a:bodyPr wrap="square" rtlCol="0" anchor="ctr"/>
          <a:lstStyle/>
          <a:p>
            <a:pPr indent="0" marL="0">
              <a:buNone/>
            </a:pPr>
            <a:r>
              <a:rPr lang="en-US" sz="1100" b="1" dirty="0">
                <a:solidFill>
                  <a:srgbClr val="032517"/>
                </a:solidFill>
                <a:latin typeface="Arial" pitchFamily="34" charset="0"/>
                <a:ea typeface="Arial" pitchFamily="34" charset="-122"/>
                <a:cs typeface="Arial" pitchFamily="34" charset="-120"/>
              </a:rPr>
              <a:t>COMMODITY VALUE CHAIN: BEFORE VS. AFTER RAÍZ PROTOCOL</a:t>
            </a:r>
            <a:endParaRPr lang="en-US" sz="1100" dirty="0"/>
          </a:p>
        </p:txBody>
      </p:sp>
      <p:sp>
        <p:nvSpPr>
          <p:cNvPr id="6" name="Shape 4"/>
          <p:cNvSpPr/>
          <p:nvPr/>
        </p:nvSpPr>
        <p:spPr>
          <a:xfrm>
            <a:off x="914400" y="2011680"/>
            <a:ext cx="228600" cy="137160"/>
          </a:xfrm>
          <a:prstGeom prst="roundRect">
            <a:avLst/>
          </a:prstGeom>
          <a:solidFill>
            <a:srgbClr val="DC2626"/>
          </a:solidFill>
          <a:ln/>
        </p:spPr>
      </p:sp>
      <p:sp>
        <p:nvSpPr>
          <p:cNvPr id="7" name="Text 5"/>
          <p:cNvSpPr/>
          <p:nvPr/>
        </p:nvSpPr>
        <p:spPr>
          <a:xfrm>
            <a:off x="1188720" y="1965960"/>
            <a:ext cx="1463040" cy="228600"/>
          </a:xfrm>
          <a:prstGeom prst="rect">
            <a:avLst/>
          </a:prstGeom>
          <a:noFill/>
          <a:ln/>
        </p:spPr>
        <p:txBody>
          <a:bodyPr wrap="square" rtlCol="0" anchor="ctr"/>
          <a:lstStyle/>
          <a:p>
            <a:pPr indent="0" marL="0">
              <a:buNone/>
            </a:pPr>
            <a:r>
              <a:rPr lang="en-US" sz="850" dirty="0">
                <a:solidFill>
                  <a:srgbClr val="6B7280"/>
                </a:solidFill>
                <a:latin typeface="Arial" pitchFamily="34" charset="0"/>
                <a:ea typeface="Arial" pitchFamily="34" charset="-122"/>
                <a:cs typeface="Arial" pitchFamily="34" charset="-120"/>
              </a:rPr>
              <a:t>Producer Share (Before)</a:t>
            </a:r>
            <a:endParaRPr lang="en-US" sz="850" dirty="0"/>
          </a:p>
        </p:txBody>
      </p:sp>
      <p:sp>
        <p:nvSpPr>
          <p:cNvPr id="8" name="Shape 6"/>
          <p:cNvSpPr/>
          <p:nvPr/>
        </p:nvSpPr>
        <p:spPr>
          <a:xfrm>
            <a:off x="2743200" y="2011680"/>
            <a:ext cx="228600" cy="137160"/>
          </a:xfrm>
          <a:prstGeom prst="roundRect">
            <a:avLst/>
          </a:prstGeom>
          <a:solidFill>
            <a:srgbClr val="F59E0B"/>
          </a:solidFill>
          <a:ln/>
        </p:spPr>
      </p:sp>
      <p:sp>
        <p:nvSpPr>
          <p:cNvPr id="9" name="Text 7"/>
          <p:cNvSpPr/>
          <p:nvPr/>
        </p:nvSpPr>
        <p:spPr>
          <a:xfrm>
            <a:off x="3017520" y="1965960"/>
            <a:ext cx="1463040" cy="228600"/>
          </a:xfrm>
          <a:prstGeom prst="rect">
            <a:avLst/>
          </a:prstGeom>
          <a:noFill/>
          <a:ln/>
        </p:spPr>
        <p:txBody>
          <a:bodyPr wrap="square" rtlCol="0" anchor="ctr"/>
          <a:lstStyle/>
          <a:p>
            <a:pPr indent="0" marL="0">
              <a:buNone/>
            </a:pPr>
            <a:r>
              <a:rPr lang="en-US" sz="850" dirty="0">
                <a:solidFill>
                  <a:srgbClr val="6B7280"/>
                </a:solidFill>
                <a:latin typeface="Arial" pitchFamily="34" charset="0"/>
                <a:ea typeface="Arial" pitchFamily="34" charset="-122"/>
                <a:cs typeface="Arial" pitchFamily="34" charset="-120"/>
              </a:rPr>
              <a:t>Coyote Markup (Before)</a:t>
            </a:r>
            <a:endParaRPr lang="en-US" sz="850" dirty="0"/>
          </a:p>
        </p:txBody>
      </p:sp>
      <p:sp>
        <p:nvSpPr>
          <p:cNvPr id="10" name="Shape 8"/>
          <p:cNvSpPr/>
          <p:nvPr/>
        </p:nvSpPr>
        <p:spPr>
          <a:xfrm>
            <a:off x="4572000" y="2011680"/>
            <a:ext cx="228600" cy="137160"/>
          </a:xfrm>
          <a:prstGeom prst="roundRect">
            <a:avLst/>
          </a:prstGeom>
          <a:solidFill>
            <a:srgbClr val="10B981"/>
          </a:solidFill>
          <a:ln/>
        </p:spPr>
      </p:sp>
      <p:sp>
        <p:nvSpPr>
          <p:cNvPr id="11" name="Text 9"/>
          <p:cNvSpPr/>
          <p:nvPr/>
        </p:nvSpPr>
        <p:spPr>
          <a:xfrm>
            <a:off x="4846320" y="1965960"/>
            <a:ext cx="1463040" cy="228600"/>
          </a:xfrm>
          <a:prstGeom prst="rect">
            <a:avLst/>
          </a:prstGeom>
          <a:noFill/>
          <a:ln/>
        </p:spPr>
        <p:txBody>
          <a:bodyPr wrap="square" rtlCol="0" anchor="ctr"/>
          <a:lstStyle/>
          <a:p>
            <a:pPr indent="0" marL="0">
              <a:buNone/>
            </a:pPr>
            <a:r>
              <a:rPr lang="en-US" sz="850" dirty="0">
                <a:solidFill>
                  <a:srgbClr val="6B7280"/>
                </a:solidFill>
                <a:latin typeface="Arial" pitchFamily="34" charset="0"/>
                <a:ea typeface="Arial" pitchFamily="34" charset="-122"/>
                <a:cs typeface="Arial" pitchFamily="34" charset="-120"/>
              </a:rPr>
              <a:t>With Raíz (Soroban)</a:t>
            </a:r>
            <a:endParaRPr lang="en-US" sz="850" dirty="0"/>
          </a:p>
        </p:txBody>
      </p:sp>
      <p:sp>
        <p:nvSpPr>
          <p:cNvPr id="12" name="Text 10"/>
          <p:cNvSpPr/>
          <p:nvPr/>
        </p:nvSpPr>
        <p:spPr>
          <a:xfrm>
            <a:off x="914400" y="2286000"/>
            <a:ext cx="5669280" cy="201168"/>
          </a:xfrm>
          <a:prstGeom prst="rect">
            <a:avLst/>
          </a:prstGeom>
          <a:noFill/>
          <a:ln/>
        </p:spPr>
        <p:txBody>
          <a:bodyPr wrap="square" rtlCol="0" anchor="ctr"/>
          <a:lstStyle/>
          <a:p>
            <a:pPr indent="0" marL="0">
              <a:buNone/>
            </a:pPr>
            <a:r>
              <a:rPr lang="en-US" sz="950" b="1" dirty="0">
                <a:solidFill>
                  <a:srgbClr val="032517"/>
                </a:solidFill>
                <a:latin typeface="Arial" pitchFamily="34" charset="0"/>
                <a:ea typeface="Arial" pitchFamily="34" charset="-122"/>
                <a:cs typeface="Arial" pitchFamily="34" charset="-120"/>
              </a:rPr>
              <a:t>1. Waist-Loom Heirloom Huipil (San José Xochixtlán)</a:t>
            </a:r>
            <a:endParaRPr lang="en-US" sz="950" dirty="0"/>
          </a:p>
        </p:txBody>
      </p:sp>
      <p:sp>
        <p:nvSpPr>
          <p:cNvPr id="13" name="Shape 11"/>
          <p:cNvSpPr/>
          <p:nvPr/>
        </p:nvSpPr>
        <p:spPr>
          <a:xfrm>
            <a:off x="914400" y="2514600"/>
            <a:ext cx="384048" cy="219456"/>
          </a:xfrm>
          <a:prstGeom prst="roundRect">
            <a:avLst/>
          </a:prstGeom>
          <a:solidFill>
            <a:srgbClr val="DC2626"/>
          </a:solidFill>
          <a:ln w="12700">
            <a:solidFill>
              <a:srgbClr val="B91C1C"/>
            </a:solidFill>
            <a:prstDash val="solid"/>
          </a:ln>
        </p:spPr>
      </p:sp>
      <p:sp>
        <p:nvSpPr>
          <p:cNvPr id="14" name="Text 12"/>
          <p:cNvSpPr/>
          <p:nvPr/>
        </p:nvSpPr>
        <p:spPr>
          <a:xfrm>
            <a:off x="914400" y="2514600"/>
            <a:ext cx="384048"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7%</a:t>
            </a:r>
            <a:endParaRPr lang="en-US" sz="800" dirty="0"/>
          </a:p>
        </p:txBody>
      </p:sp>
      <p:sp>
        <p:nvSpPr>
          <p:cNvPr id="15" name="Shape 13"/>
          <p:cNvSpPr/>
          <p:nvPr/>
        </p:nvSpPr>
        <p:spPr>
          <a:xfrm>
            <a:off x="1298448" y="2514600"/>
            <a:ext cx="5102352" cy="219456"/>
          </a:xfrm>
          <a:prstGeom prst="roundRect">
            <a:avLst/>
          </a:prstGeom>
          <a:solidFill>
            <a:srgbClr val="F59E0B"/>
          </a:solidFill>
          <a:ln w="12700">
            <a:solidFill>
              <a:srgbClr val="D97706"/>
            </a:solidFill>
            <a:prstDash val="solid"/>
          </a:ln>
        </p:spPr>
      </p:sp>
      <p:sp>
        <p:nvSpPr>
          <p:cNvPr id="16" name="Text 14"/>
          <p:cNvSpPr/>
          <p:nvPr/>
        </p:nvSpPr>
        <p:spPr>
          <a:xfrm>
            <a:off x="1298448" y="2514600"/>
            <a:ext cx="510235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Coyote Markup: 93%</a:t>
            </a:r>
            <a:endParaRPr lang="en-US" sz="800" dirty="0"/>
          </a:p>
        </p:txBody>
      </p:sp>
      <p:sp>
        <p:nvSpPr>
          <p:cNvPr id="17" name="Shape 15"/>
          <p:cNvSpPr/>
          <p:nvPr/>
        </p:nvSpPr>
        <p:spPr>
          <a:xfrm>
            <a:off x="914400" y="2770632"/>
            <a:ext cx="5376672" cy="219456"/>
          </a:xfrm>
          <a:prstGeom prst="roundRect">
            <a:avLst/>
          </a:prstGeom>
          <a:solidFill>
            <a:srgbClr val="10B981"/>
          </a:solidFill>
          <a:ln w="12700">
            <a:solidFill>
              <a:srgbClr val="059669"/>
            </a:solidFill>
            <a:prstDash val="solid"/>
          </a:ln>
        </p:spPr>
      </p:sp>
      <p:sp>
        <p:nvSpPr>
          <p:cNvPr id="18" name="Text 16"/>
          <p:cNvSpPr/>
          <p:nvPr/>
        </p:nvSpPr>
        <p:spPr>
          <a:xfrm>
            <a:off x="914400" y="2770632"/>
            <a:ext cx="537667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Raíz Protocol: 98% Direct to Producer</a:t>
            </a:r>
            <a:endParaRPr lang="en-US" sz="800" dirty="0"/>
          </a:p>
        </p:txBody>
      </p:sp>
      <p:sp>
        <p:nvSpPr>
          <p:cNvPr id="19" name="Shape 17"/>
          <p:cNvSpPr/>
          <p:nvPr/>
        </p:nvSpPr>
        <p:spPr>
          <a:xfrm>
            <a:off x="6291072" y="2770632"/>
            <a:ext cx="201168" cy="219456"/>
          </a:xfrm>
          <a:prstGeom prst="roundRect">
            <a:avLst/>
          </a:prstGeom>
          <a:solidFill>
            <a:srgbClr val="D97706"/>
          </a:solidFill>
          <a:ln w="12700">
            <a:solidFill>
              <a:srgbClr val="D97706"/>
            </a:solidFill>
            <a:prstDash val="solid"/>
          </a:ln>
        </p:spPr>
      </p:sp>
      <p:sp>
        <p:nvSpPr>
          <p:cNvPr id="20" name="Text 18"/>
          <p:cNvSpPr/>
          <p:nvPr/>
        </p:nvSpPr>
        <p:spPr>
          <a:xfrm>
            <a:off x="914400" y="3218688"/>
            <a:ext cx="5669280" cy="201168"/>
          </a:xfrm>
          <a:prstGeom prst="rect">
            <a:avLst/>
          </a:prstGeom>
          <a:noFill/>
          <a:ln/>
        </p:spPr>
        <p:txBody>
          <a:bodyPr wrap="square" rtlCol="0" anchor="ctr"/>
          <a:lstStyle/>
          <a:p>
            <a:pPr indent="0" marL="0">
              <a:buNone/>
            </a:pPr>
            <a:r>
              <a:rPr lang="en-US" sz="950" b="1" dirty="0">
                <a:solidFill>
                  <a:srgbClr val="032517"/>
                </a:solidFill>
                <a:latin typeface="Arial" pitchFamily="34" charset="0"/>
                <a:ea typeface="Arial" pitchFamily="34" charset="-122"/>
                <a:cs typeface="Arial" pitchFamily="34" charset="-120"/>
              </a:rPr>
              <a:t>2. Specialty Coffee Pergamino (Magdalena Peñasco)</a:t>
            </a:r>
            <a:endParaRPr lang="en-US" sz="950" dirty="0"/>
          </a:p>
        </p:txBody>
      </p:sp>
      <p:sp>
        <p:nvSpPr>
          <p:cNvPr id="21" name="Shape 19"/>
          <p:cNvSpPr/>
          <p:nvPr/>
        </p:nvSpPr>
        <p:spPr>
          <a:xfrm>
            <a:off x="914400" y="3447288"/>
            <a:ext cx="987552" cy="219456"/>
          </a:xfrm>
          <a:prstGeom prst="roundRect">
            <a:avLst/>
          </a:prstGeom>
          <a:solidFill>
            <a:srgbClr val="DC2626"/>
          </a:solidFill>
          <a:ln w="12700">
            <a:solidFill>
              <a:srgbClr val="B91C1C"/>
            </a:solidFill>
            <a:prstDash val="solid"/>
          </a:ln>
        </p:spPr>
      </p:sp>
      <p:sp>
        <p:nvSpPr>
          <p:cNvPr id="22" name="Text 20"/>
          <p:cNvSpPr/>
          <p:nvPr/>
        </p:nvSpPr>
        <p:spPr>
          <a:xfrm>
            <a:off x="914400" y="3447288"/>
            <a:ext cx="98755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18%</a:t>
            </a:r>
            <a:endParaRPr lang="en-US" sz="800" dirty="0"/>
          </a:p>
        </p:txBody>
      </p:sp>
      <p:sp>
        <p:nvSpPr>
          <p:cNvPr id="23" name="Shape 21"/>
          <p:cNvSpPr/>
          <p:nvPr/>
        </p:nvSpPr>
        <p:spPr>
          <a:xfrm>
            <a:off x="1901952" y="3447288"/>
            <a:ext cx="4498848" cy="219456"/>
          </a:xfrm>
          <a:prstGeom prst="roundRect">
            <a:avLst/>
          </a:prstGeom>
          <a:solidFill>
            <a:srgbClr val="F59E0B"/>
          </a:solidFill>
          <a:ln w="12700">
            <a:solidFill>
              <a:srgbClr val="D97706"/>
            </a:solidFill>
            <a:prstDash val="solid"/>
          </a:ln>
        </p:spPr>
      </p:sp>
      <p:sp>
        <p:nvSpPr>
          <p:cNvPr id="24" name="Text 22"/>
          <p:cNvSpPr/>
          <p:nvPr/>
        </p:nvSpPr>
        <p:spPr>
          <a:xfrm>
            <a:off x="1901952" y="3447288"/>
            <a:ext cx="4498848"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Coyote Markup: 82%</a:t>
            </a:r>
            <a:endParaRPr lang="en-US" sz="800" dirty="0"/>
          </a:p>
        </p:txBody>
      </p:sp>
      <p:sp>
        <p:nvSpPr>
          <p:cNvPr id="25" name="Shape 23"/>
          <p:cNvSpPr/>
          <p:nvPr/>
        </p:nvSpPr>
        <p:spPr>
          <a:xfrm>
            <a:off x="914400" y="3703320"/>
            <a:ext cx="5376672" cy="219456"/>
          </a:xfrm>
          <a:prstGeom prst="roundRect">
            <a:avLst/>
          </a:prstGeom>
          <a:solidFill>
            <a:srgbClr val="10B981"/>
          </a:solidFill>
          <a:ln w="12700">
            <a:solidFill>
              <a:srgbClr val="059669"/>
            </a:solidFill>
            <a:prstDash val="solid"/>
          </a:ln>
        </p:spPr>
      </p:sp>
      <p:sp>
        <p:nvSpPr>
          <p:cNvPr id="26" name="Text 24"/>
          <p:cNvSpPr/>
          <p:nvPr/>
        </p:nvSpPr>
        <p:spPr>
          <a:xfrm>
            <a:off x="914400" y="3703320"/>
            <a:ext cx="537667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Raíz Protocol: 98% Direct to Producer</a:t>
            </a:r>
            <a:endParaRPr lang="en-US" sz="800" dirty="0"/>
          </a:p>
        </p:txBody>
      </p:sp>
      <p:sp>
        <p:nvSpPr>
          <p:cNvPr id="27" name="Shape 25"/>
          <p:cNvSpPr/>
          <p:nvPr/>
        </p:nvSpPr>
        <p:spPr>
          <a:xfrm>
            <a:off x="6291072" y="3703320"/>
            <a:ext cx="201168" cy="219456"/>
          </a:xfrm>
          <a:prstGeom prst="roundRect">
            <a:avLst/>
          </a:prstGeom>
          <a:solidFill>
            <a:srgbClr val="D97706"/>
          </a:solidFill>
          <a:ln w="12700">
            <a:solidFill>
              <a:srgbClr val="D97706"/>
            </a:solidFill>
            <a:prstDash val="solid"/>
          </a:ln>
        </p:spPr>
      </p:sp>
      <p:sp>
        <p:nvSpPr>
          <p:cNvPr id="28" name="Text 26"/>
          <p:cNvSpPr/>
          <p:nvPr/>
        </p:nvSpPr>
        <p:spPr>
          <a:xfrm>
            <a:off x="914400" y="4151376"/>
            <a:ext cx="5669280" cy="201168"/>
          </a:xfrm>
          <a:prstGeom prst="rect">
            <a:avLst/>
          </a:prstGeom>
          <a:noFill/>
          <a:ln/>
        </p:spPr>
        <p:txBody>
          <a:bodyPr wrap="square" rtlCol="0" anchor="ctr"/>
          <a:lstStyle/>
          <a:p>
            <a:pPr indent="0" marL="0">
              <a:buNone/>
            </a:pPr>
            <a:r>
              <a:rPr lang="en-US" sz="950" b="1" dirty="0">
                <a:solidFill>
                  <a:srgbClr val="032517"/>
                </a:solidFill>
                <a:latin typeface="Arial" pitchFamily="34" charset="0"/>
                <a:ea typeface="Arial" pitchFamily="34" charset="-122"/>
                <a:cs typeface="Arial" pitchFamily="34" charset="-120"/>
              </a:rPr>
              <a:t>3. Ancestral Wild Agave Mezcal (Yautepec)</a:t>
            </a:r>
            <a:endParaRPr lang="en-US" sz="950" dirty="0"/>
          </a:p>
        </p:txBody>
      </p:sp>
      <p:sp>
        <p:nvSpPr>
          <p:cNvPr id="29" name="Shape 27"/>
          <p:cNvSpPr/>
          <p:nvPr/>
        </p:nvSpPr>
        <p:spPr>
          <a:xfrm>
            <a:off x="914400" y="4379976"/>
            <a:ext cx="1207008" cy="219456"/>
          </a:xfrm>
          <a:prstGeom prst="roundRect">
            <a:avLst/>
          </a:prstGeom>
          <a:solidFill>
            <a:srgbClr val="DC2626"/>
          </a:solidFill>
          <a:ln w="12700">
            <a:solidFill>
              <a:srgbClr val="B91C1C"/>
            </a:solidFill>
            <a:prstDash val="solid"/>
          </a:ln>
        </p:spPr>
      </p:sp>
      <p:sp>
        <p:nvSpPr>
          <p:cNvPr id="30" name="Text 28"/>
          <p:cNvSpPr/>
          <p:nvPr/>
        </p:nvSpPr>
        <p:spPr>
          <a:xfrm>
            <a:off x="914400" y="4379976"/>
            <a:ext cx="1207008"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22%</a:t>
            </a:r>
            <a:endParaRPr lang="en-US" sz="800" dirty="0"/>
          </a:p>
        </p:txBody>
      </p:sp>
      <p:sp>
        <p:nvSpPr>
          <p:cNvPr id="31" name="Shape 29"/>
          <p:cNvSpPr/>
          <p:nvPr/>
        </p:nvSpPr>
        <p:spPr>
          <a:xfrm>
            <a:off x="2121408" y="4379976"/>
            <a:ext cx="4279392" cy="219456"/>
          </a:xfrm>
          <a:prstGeom prst="roundRect">
            <a:avLst/>
          </a:prstGeom>
          <a:solidFill>
            <a:srgbClr val="F59E0B"/>
          </a:solidFill>
          <a:ln w="12700">
            <a:solidFill>
              <a:srgbClr val="D97706"/>
            </a:solidFill>
            <a:prstDash val="solid"/>
          </a:ln>
        </p:spPr>
      </p:sp>
      <p:sp>
        <p:nvSpPr>
          <p:cNvPr id="32" name="Text 30"/>
          <p:cNvSpPr/>
          <p:nvPr/>
        </p:nvSpPr>
        <p:spPr>
          <a:xfrm>
            <a:off x="2121408" y="4379976"/>
            <a:ext cx="427939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Coyote Markup: 78%</a:t>
            </a:r>
            <a:endParaRPr lang="en-US" sz="800" dirty="0"/>
          </a:p>
        </p:txBody>
      </p:sp>
      <p:sp>
        <p:nvSpPr>
          <p:cNvPr id="33" name="Shape 31"/>
          <p:cNvSpPr/>
          <p:nvPr/>
        </p:nvSpPr>
        <p:spPr>
          <a:xfrm>
            <a:off x="914400" y="4636008"/>
            <a:ext cx="5376672" cy="219456"/>
          </a:xfrm>
          <a:prstGeom prst="roundRect">
            <a:avLst/>
          </a:prstGeom>
          <a:solidFill>
            <a:srgbClr val="10B981"/>
          </a:solidFill>
          <a:ln w="12700">
            <a:solidFill>
              <a:srgbClr val="059669"/>
            </a:solidFill>
            <a:prstDash val="solid"/>
          </a:ln>
        </p:spPr>
      </p:sp>
      <p:sp>
        <p:nvSpPr>
          <p:cNvPr id="34" name="Text 32"/>
          <p:cNvSpPr/>
          <p:nvPr/>
        </p:nvSpPr>
        <p:spPr>
          <a:xfrm>
            <a:off x="914400" y="4636008"/>
            <a:ext cx="537667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Raíz Protocol: 98% Direct to Producer</a:t>
            </a:r>
            <a:endParaRPr lang="en-US" sz="800" dirty="0"/>
          </a:p>
        </p:txBody>
      </p:sp>
      <p:sp>
        <p:nvSpPr>
          <p:cNvPr id="35" name="Shape 33"/>
          <p:cNvSpPr/>
          <p:nvPr/>
        </p:nvSpPr>
        <p:spPr>
          <a:xfrm>
            <a:off x="6291072" y="4636008"/>
            <a:ext cx="201168" cy="219456"/>
          </a:xfrm>
          <a:prstGeom prst="roundRect">
            <a:avLst/>
          </a:prstGeom>
          <a:solidFill>
            <a:srgbClr val="D97706"/>
          </a:solidFill>
          <a:ln w="12700">
            <a:solidFill>
              <a:srgbClr val="D97706"/>
            </a:solidFill>
            <a:prstDash val="solid"/>
          </a:ln>
        </p:spPr>
      </p:sp>
      <p:sp>
        <p:nvSpPr>
          <p:cNvPr id="36" name="Text 34"/>
          <p:cNvSpPr/>
          <p:nvPr/>
        </p:nvSpPr>
        <p:spPr>
          <a:xfrm>
            <a:off x="914400" y="5084064"/>
            <a:ext cx="5669280" cy="201168"/>
          </a:xfrm>
          <a:prstGeom prst="rect">
            <a:avLst/>
          </a:prstGeom>
          <a:noFill/>
          <a:ln/>
        </p:spPr>
        <p:txBody>
          <a:bodyPr wrap="square" rtlCol="0" anchor="ctr"/>
          <a:lstStyle/>
          <a:p>
            <a:pPr indent="0" marL="0">
              <a:buNone/>
            </a:pPr>
            <a:r>
              <a:rPr lang="en-US" sz="950" b="1" dirty="0">
                <a:solidFill>
                  <a:srgbClr val="032517"/>
                </a:solidFill>
                <a:latin typeface="Arial" pitchFamily="34" charset="0"/>
                <a:ea typeface="Arial" pitchFamily="34" charset="-122"/>
                <a:cs typeface="Arial" pitchFamily="34" charset="-120"/>
              </a:rPr>
              <a:t>4. Virgin Campanilla Honey (Comité Apícola)</a:t>
            </a:r>
            <a:endParaRPr lang="en-US" sz="950" dirty="0"/>
          </a:p>
        </p:txBody>
      </p:sp>
      <p:sp>
        <p:nvSpPr>
          <p:cNvPr id="37" name="Shape 35"/>
          <p:cNvSpPr/>
          <p:nvPr/>
        </p:nvSpPr>
        <p:spPr>
          <a:xfrm>
            <a:off x="914400" y="5312664"/>
            <a:ext cx="1371600" cy="219456"/>
          </a:xfrm>
          <a:prstGeom prst="roundRect">
            <a:avLst/>
          </a:prstGeom>
          <a:solidFill>
            <a:srgbClr val="DC2626"/>
          </a:solidFill>
          <a:ln w="12700">
            <a:solidFill>
              <a:srgbClr val="B91C1C"/>
            </a:solidFill>
            <a:prstDash val="solid"/>
          </a:ln>
        </p:spPr>
      </p:sp>
      <p:sp>
        <p:nvSpPr>
          <p:cNvPr id="38" name="Text 36"/>
          <p:cNvSpPr/>
          <p:nvPr/>
        </p:nvSpPr>
        <p:spPr>
          <a:xfrm>
            <a:off x="914400" y="5312664"/>
            <a:ext cx="1371600"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25%</a:t>
            </a:r>
            <a:endParaRPr lang="en-US" sz="800" dirty="0"/>
          </a:p>
        </p:txBody>
      </p:sp>
      <p:sp>
        <p:nvSpPr>
          <p:cNvPr id="39" name="Shape 37"/>
          <p:cNvSpPr/>
          <p:nvPr/>
        </p:nvSpPr>
        <p:spPr>
          <a:xfrm>
            <a:off x="2286000" y="5312664"/>
            <a:ext cx="4114800" cy="219456"/>
          </a:xfrm>
          <a:prstGeom prst="roundRect">
            <a:avLst/>
          </a:prstGeom>
          <a:solidFill>
            <a:srgbClr val="F59E0B"/>
          </a:solidFill>
          <a:ln w="12700">
            <a:solidFill>
              <a:srgbClr val="D97706"/>
            </a:solidFill>
            <a:prstDash val="solid"/>
          </a:ln>
        </p:spPr>
      </p:sp>
      <p:sp>
        <p:nvSpPr>
          <p:cNvPr id="40" name="Text 38"/>
          <p:cNvSpPr/>
          <p:nvPr/>
        </p:nvSpPr>
        <p:spPr>
          <a:xfrm>
            <a:off x="2286000" y="5312664"/>
            <a:ext cx="4114800"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Coyote Markup: 75%</a:t>
            </a:r>
            <a:endParaRPr lang="en-US" sz="800" dirty="0"/>
          </a:p>
        </p:txBody>
      </p:sp>
      <p:sp>
        <p:nvSpPr>
          <p:cNvPr id="41" name="Shape 39"/>
          <p:cNvSpPr/>
          <p:nvPr/>
        </p:nvSpPr>
        <p:spPr>
          <a:xfrm>
            <a:off x="914400" y="5568696"/>
            <a:ext cx="5376672" cy="219456"/>
          </a:xfrm>
          <a:prstGeom prst="roundRect">
            <a:avLst/>
          </a:prstGeom>
          <a:solidFill>
            <a:srgbClr val="10B981"/>
          </a:solidFill>
          <a:ln w="12700">
            <a:solidFill>
              <a:srgbClr val="059669"/>
            </a:solidFill>
            <a:prstDash val="solid"/>
          </a:ln>
        </p:spPr>
      </p:sp>
      <p:sp>
        <p:nvSpPr>
          <p:cNvPr id="42" name="Text 40"/>
          <p:cNvSpPr/>
          <p:nvPr/>
        </p:nvSpPr>
        <p:spPr>
          <a:xfrm>
            <a:off x="914400" y="5568696"/>
            <a:ext cx="5376672" cy="219456"/>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Raíz Protocol: 98% Direct to Producer</a:t>
            </a:r>
            <a:endParaRPr lang="en-US" sz="800" dirty="0"/>
          </a:p>
        </p:txBody>
      </p:sp>
      <p:sp>
        <p:nvSpPr>
          <p:cNvPr id="43" name="Shape 41"/>
          <p:cNvSpPr/>
          <p:nvPr/>
        </p:nvSpPr>
        <p:spPr>
          <a:xfrm>
            <a:off x="6291072" y="5568696"/>
            <a:ext cx="201168" cy="219456"/>
          </a:xfrm>
          <a:prstGeom prst="roundRect">
            <a:avLst/>
          </a:prstGeom>
          <a:solidFill>
            <a:srgbClr val="D97706"/>
          </a:solidFill>
          <a:ln w="12700">
            <a:solidFill>
              <a:srgbClr val="D97706"/>
            </a:solidFill>
            <a:prstDash val="solid"/>
          </a:ln>
        </p:spPr>
      </p:sp>
      <p:sp>
        <p:nvSpPr>
          <p:cNvPr id="44" name="Shape 42"/>
          <p:cNvSpPr/>
          <p:nvPr/>
        </p:nvSpPr>
        <p:spPr>
          <a:xfrm>
            <a:off x="7040880" y="1554480"/>
            <a:ext cx="4389120" cy="1417320"/>
          </a:xfrm>
          <a:prstGeom prst="roundRect">
            <a:avLst/>
          </a:prstGeom>
          <a:solidFill>
            <a:srgbClr val="FFFFFF"/>
          </a:solidFill>
          <a:ln w="12700">
            <a:solidFill>
              <a:srgbClr val="E5E7EB"/>
            </a:solidFill>
            <a:prstDash val="solid"/>
          </a:ln>
        </p:spPr>
      </p:sp>
      <p:sp>
        <p:nvSpPr>
          <p:cNvPr id="45" name="Shape 43"/>
          <p:cNvSpPr/>
          <p:nvPr/>
        </p:nvSpPr>
        <p:spPr>
          <a:xfrm>
            <a:off x="7223760" y="1664208"/>
            <a:ext cx="2560320" cy="256032"/>
          </a:xfrm>
          <a:prstGeom prst="roundRect">
            <a:avLst/>
          </a:prstGeom>
          <a:solidFill>
            <a:srgbClr val="FEE2E2"/>
          </a:solidFill>
          <a:ln w="12700">
            <a:solidFill>
              <a:srgbClr val="FEE2E2"/>
            </a:solidFill>
            <a:prstDash val="solid"/>
          </a:ln>
        </p:spPr>
      </p:sp>
      <p:sp>
        <p:nvSpPr>
          <p:cNvPr id="46" name="Text 44"/>
          <p:cNvSpPr/>
          <p:nvPr/>
        </p:nvSpPr>
        <p:spPr>
          <a:xfrm>
            <a:off x="7223760" y="1664208"/>
            <a:ext cx="2560320" cy="256032"/>
          </a:xfrm>
          <a:prstGeom prst="rect">
            <a:avLst/>
          </a:prstGeom>
          <a:noFill/>
          <a:ln/>
        </p:spPr>
        <p:txBody>
          <a:bodyPr wrap="square" rtlCol="0" anchor="ctr"/>
          <a:lstStyle/>
          <a:p>
            <a:pPr algn="ctr" indent="0" marL="0">
              <a:buNone/>
            </a:pPr>
            <a:r>
              <a:rPr lang="en-US" sz="900" b="1" dirty="0">
                <a:solidFill>
                  <a:srgbClr val="991B1B"/>
                </a:solidFill>
                <a:latin typeface="Arial" pitchFamily="34" charset="0"/>
                <a:ea typeface="Arial" pitchFamily="34" charset="-122"/>
                <a:cs typeface="Arial" pitchFamily="34" charset="-120"/>
              </a:rPr>
              <a:t>THE 93% EXTRACTION SHOCK</a:t>
            </a:r>
            <a:endParaRPr lang="en-US" sz="900" dirty="0"/>
          </a:p>
        </p:txBody>
      </p:sp>
      <p:sp>
        <p:nvSpPr>
          <p:cNvPr id="47" name="Text 45"/>
          <p:cNvSpPr/>
          <p:nvPr/>
        </p:nvSpPr>
        <p:spPr>
          <a:xfrm>
            <a:off x="7223760" y="1965960"/>
            <a:ext cx="4023360" cy="27432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Waist-Loom Heirloom Textiles</a:t>
            </a:r>
            <a:endParaRPr lang="en-US" sz="1200" dirty="0"/>
          </a:p>
        </p:txBody>
      </p:sp>
      <p:sp>
        <p:nvSpPr>
          <p:cNvPr id="48" name="Text 46"/>
          <p:cNvSpPr/>
          <p:nvPr/>
        </p:nvSpPr>
        <p:spPr>
          <a:xfrm>
            <a:off x="7223760" y="2267712"/>
            <a:ext cx="4023360" cy="640080"/>
          </a:xfrm>
          <a:prstGeom prst="rect">
            <a:avLst/>
          </a:prstGeom>
          <a:noFill/>
          <a:ln/>
        </p:spPr>
        <p:txBody>
          <a:bodyPr wrap="square" rtlCol="0" anchor="ctr"/>
          <a:lstStyle/>
          <a:p>
            <a:pPr indent="0" marL="0">
              <a:lnSpc>
                <a:spcPts val="1400"/>
              </a:lnSpc>
              <a:buNone/>
            </a:pPr>
            <a:r>
              <a:rPr lang="en-US" sz="1000" dirty="0">
                <a:solidFill>
                  <a:srgbClr val="1C2421"/>
                </a:solidFill>
                <a:latin typeface="Arial" pitchFamily="34" charset="0"/>
                <a:ea typeface="Arial" pitchFamily="34" charset="-122"/>
                <a:cs typeface="Arial" pitchFamily="34" charset="-120"/>
              </a:rPr>
              <a:t>Artisans invest 7-9 months of hand labor to receive ~$60 USD ($1,200 MXN) from local coyotes. The piece is resold in metropolitan luxury boutiques for ~$900 USD ($18,000 MXN)—middlemen capture 93% of gross value.</a:t>
            </a:r>
            <a:endParaRPr lang="en-US" sz="1000" dirty="0"/>
          </a:p>
        </p:txBody>
      </p:sp>
      <p:sp>
        <p:nvSpPr>
          <p:cNvPr id="49" name="Shape 47"/>
          <p:cNvSpPr/>
          <p:nvPr/>
        </p:nvSpPr>
        <p:spPr>
          <a:xfrm>
            <a:off x="7040880" y="3090672"/>
            <a:ext cx="4389120" cy="1417320"/>
          </a:xfrm>
          <a:prstGeom prst="roundRect">
            <a:avLst/>
          </a:prstGeom>
          <a:solidFill>
            <a:srgbClr val="FFFFFF"/>
          </a:solidFill>
          <a:ln w="12700">
            <a:solidFill>
              <a:srgbClr val="E5E7EB"/>
            </a:solidFill>
            <a:prstDash val="solid"/>
          </a:ln>
        </p:spPr>
      </p:sp>
      <p:sp>
        <p:nvSpPr>
          <p:cNvPr id="50" name="Shape 48"/>
          <p:cNvSpPr/>
          <p:nvPr/>
        </p:nvSpPr>
        <p:spPr>
          <a:xfrm>
            <a:off x="7223760" y="3200400"/>
            <a:ext cx="2560320" cy="256032"/>
          </a:xfrm>
          <a:prstGeom prst="roundRect">
            <a:avLst/>
          </a:prstGeom>
          <a:solidFill>
            <a:srgbClr val="DCFCE7"/>
          </a:solidFill>
          <a:ln w="12700">
            <a:solidFill>
              <a:srgbClr val="DCFCE7"/>
            </a:solidFill>
            <a:prstDash val="solid"/>
          </a:ln>
        </p:spPr>
      </p:sp>
      <p:sp>
        <p:nvSpPr>
          <p:cNvPr id="51" name="Text 49"/>
          <p:cNvSpPr/>
          <p:nvPr/>
        </p:nvSpPr>
        <p:spPr>
          <a:xfrm>
            <a:off x="7223760" y="3200400"/>
            <a:ext cx="2560320" cy="256032"/>
          </a:xfrm>
          <a:prstGeom prst="rect">
            <a:avLst/>
          </a:prstGeom>
          <a:noFill/>
          <a:ln/>
        </p:spPr>
        <p:txBody>
          <a:bodyPr wrap="square" rtlCol="0" anchor="ctr"/>
          <a:lstStyle/>
          <a:p>
            <a:pPr algn="ctr" indent="0" marL="0">
              <a:buNone/>
            </a:pPr>
            <a:r>
              <a:rPr lang="en-US" sz="900" b="1" dirty="0">
                <a:solidFill>
                  <a:srgbClr val="166534"/>
                </a:solidFill>
                <a:latin typeface="Arial" pitchFamily="34" charset="0"/>
                <a:ea typeface="Arial" pitchFamily="34" charset="-122"/>
                <a:cs typeface="Arial" pitchFamily="34" charset="-120"/>
              </a:rPr>
              <a:t>ACOUSTIC USABILITY BREAKTHROUGH</a:t>
            </a:r>
            <a:endParaRPr lang="en-US" sz="900" dirty="0"/>
          </a:p>
        </p:txBody>
      </p:sp>
      <p:sp>
        <p:nvSpPr>
          <p:cNvPr id="52" name="Text 50"/>
          <p:cNvSpPr/>
          <p:nvPr/>
        </p:nvSpPr>
        <p:spPr>
          <a:xfrm>
            <a:off x="7223760" y="3502152"/>
            <a:ext cx="4023360" cy="27432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Voice UI in Tu’un Savi vs. Typing</a:t>
            </a:r>
            <a:endParaRPr lang="en-US" sz="1200" dirty="0"/>
          </a:p>
        </p:txBody>
      </p:sp>
      <p:sp>
        <p:nvSpPr>
          <p:cNvPr id="53" name="Text 51"/>
          <p:cNvSpPr/>
          <p:nvPr/>
        </p:nvSpPr>
        <p:spPr>
          <a:xfrm>
            <a:off x="7223760" y="3803904"/>
            <a:ext cx="4023360" cy="640080"/>
          </a:xfrm>
          <a:prstGeom prst="rect">
            <a:avLst/>
          </a:prstGeom>
          <a:noFill/>
          <a:ln/>
        </p:spPr>
        <p:txBody>
          <a:bodyPr wrap="square" rtlCol="0" anchor="ctr"/>
          <a:lstStyle/>
          <a:p>
            <a:pPr indent="0" marL="0">
              <a:lnSpc>
                <a:spcPts val="1400"/>
              </a:lnSpc>
              <a:buNone/>
            </a:pPr>
            <a:r>
              <a:rPr lang="en-US" sz="1000" dirty="0">
                <a:solidFill>
                  <a:srgbClr val="1C2421"/>
                </a:solidFill>
                <a:latin typeface="Arial" pitchFamily="34" charset="0"/>
                <a:ea typeface="Arial" pitchFamily="34" charset="-122"/>
                <a:cs typeface="Arial" pitchFamily="34" charset="-120"/>
              </a:rPr>
              <a:t>88% of elderly producers failed on standard mobile banking apps due to typing barriers or fear of error. With Raíz’s 112px acoustic voice button, 96% completed their harvest record in &lt;4 seconds without assistance.</a:t>
            </a:r>
            <a:endParaRPr lang="en-US" sz="1000" dirty="0"/>
          </a:p>
        </p:txBody>
      </p:sp>
      <p:sp>
        <p:nvSpPr>
          <p:cNvPr id="54" name="Shape 52"/>
          <p:cNvSpPr/>
          <p:nvPr/>
        </p:nvSpPr>
        <p:spPr>
          <a:xfrm>
            <a:off x="7040880" y="4626864"/>
            <a:ext cx="4389120" cy="1417320"/>
          </a:xfrm>
          <a:prstGeom prst="roundRect">
            <a:avLst/>
          </a:prstGeom>
          <a:solidFill>
            <a:srgbClr val="FFFFFF"/>
          </a:solidFill>
          <a:ln w="12700">
            <a:solidFill>
              <a:srgbClr val="E5E7EB"/>
            </a:solidFill>
            <a:prstDash val="solid"/>
          </a:ln>
        </p:spPr>
      </p:sp>
      <p:sp>
        <p:nvSpPr>
          <p:cNvPr id="55" name="Shape 53"/>
          <p:cNvSpPr/>
          <p:nvPr/>
        </p:nvSpPr>
        <p:spPr>
          <a:xfrm>
            <a:off x="7223760" y="4736592"/>
            <a:ext cx="2560320" cy="256032"/>
          </a:xfrm>
          <a:prstGeom prst="roundRect">
            <a:avLst/>
          </a:prstGeom>
          <a:solidFill>
            <a:srgbClr val="FEF3C7"/>
          </a:solidFill>
          <a:ln w="12700">
            <a:solidFill>
              <a:srgbClr val="FEF3C7"/>
            </a:solidFill>
            <a:prstDash val="solid"/>
          </a:ln>
        </p:spPr>
      </p:sp>
      <p:sp>
        <p:nvSpPr>
          <p:cNvPr id="56" name="Text 54"/>
          <p:cNvSpPr/>
          <p:nvPr/>
        </p:nvSpPr>
        <p:spPr>
          <a:xfrm>
            <a:off x="7223760" y="4736592"/>
            <a:ext cx="2560320" cy="256032"/>
          </a:xfrm>
          <a:prstGeom prst="rect">
            <a:avLst/>
          </a:prstGeom>
          <a:noFill/>
          <a:ln/>
        </p:spPr>
        <p:txBody>
          <a:bodyPr wrap="square" rtlCol="0" anchor="ctr"/>
          <a:lstStyle/>
          <a:p>
            <a:pPr algn="ctr" indent="0" marL="0">
              <a:buNone/>
            </a:pPr>
            <a:r>
              <a:rPr lang="en-US" sz="900" b="1" dirty="0">
                <a:solidFill>
                  <a:srgbClr val="92400E"/>
                </a:solidFill>
                <a:latin typeface="Arial" pitchFamily="34" charset="0"/>
                <a:ea typeface="Arial" pitchFamily="34" charset="-122"/>
                <a:cs typeface="Arial" pitchFamily="34" charset="-120"/>
              </a:rPr>
              <a:t>100% DEMAND FOR PROVENANCE</a:t>
            </a:r>
            <a:endParaRPr lang="en-US" sz="900" dirty="0"/>
          </a:p>
        </p:txBody>
      </p:sp>
      <p:sp>
        <p:nvSpPr>
          <p:cNvPr id="57" name="Text 55"/>
          <p:cNvSpPr/>
          <p:nvPr/>
        </p:nvSpPr>
        <p:spPr>
          <a:xfrm>
            <a:off x="7223760" y="5038344"/>
            <a:ext cx="4023360" cy="27432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Physical Hang-Tag Authentication</a:t>
            </a:r>
            <a:endParaRPr lang="en-US" sz="1200" dirty="0"/>
          </a:p>
        </p:txBody>
      </p:sp>
      <p:sp>
        <p:nvSpPr>
          <p:cNvPr id="58" name="Text 56"/>
          <p:cNvSpPr/>
          <p:nvPr/>
        </p:nvSpPr>
        <p:spPr>
          <a:xfrm>
            <a:off x="7223760" y="5340096"/>
            <a:ext cx="4023360" cy="640080"/>
          </a:xfrm>
          <a:prstGeom prst="rect">
            <a:avLst/>
          </a:prstGeom>
          <a:noFill/>
          <a:ln/>
        </p:spPr>
        <p:txBody>
          <a:bodyPr wrap="square" rtlCol="0" anchor="ctr"/>
          <a:lstStyle/>
          <a:p>
            <a:pPr indent="0" marL="0">
              <a:lnSpc>
                <a:spcPts val="1400"/>
              </a:lnSpc>
              <a:buNone/>
            </a:pPr>
            <a:r>
              <a:rPr lang="en-US" sz="1000" dirty="0">
                <a:solidFill>
                  <a:srgbClr val="1C2421"/>
                </a:solidFill>
                <a:latin typeface="Arial" pitchFamily="34" charset="0"/>
                <a:ea typeface="Arial" pitchFamily="34" charset="-122"/>
                <a:cs typeface="Arial" pitchFamily="34" charset="-120"/>
              </a:rPr>
              <a:t>100% of surveyed artisans demanded physical ISO/IEC 18004 hang-tags to defend their work against Chinese factory counterfeits and prove their collective community authorship under Mexican law.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THE MISSING INFRASTRUCTURE PRIMITIVE IN STELLAR</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Why Real-World Asset (RWA) Tokenization Demands On-Chain Attestations</a:t>
            </a:r>
            <a:endParaRPr lang="en-US" sz="1400" dirty="0"/>
          </a:p>
        </p:txBody>
      </p:sp>
      <p:sp>
        <p:nvSpPr>
          <p:cNvPr id="4" name="Shape 2"/>
          <p:cNvSpPr/>
          <p:nvPr/>
        </p:nvSpPr>
        <p:spPr>
          <a:xfrm>
            <a:off x="731520" y="1645920"/>
            <a:ext cx="5029200" cy="4389120"/>
          </a:xfrm>
          <a:prstGeom prst="roundRect">
            <a:avLst/>
          </a:prstGeom>
          <a:solidFill>
            <a:srgbClr val="FFFFFF"/>
          </a:solidFill>
          <a:ln w="12700">
            <a:solidFill>
              <a:srgbClr val="E5E7EB"/>
            </a:solidFill>
            <a:prstDash val="solid"/>
          </a:ln>
        </p:spPr>
      </p:sp>
      <p:sp>
        <p:nvSpPr>
          <p:cNvPr id="5" name="Text 3"/>
          <p:cNvSpPr/>
          <p:nvPr/>
        </p:nvSpPr>
        <p:spPr>
          <a:xfrm>
            <a:off x="1005840" y="1920240"/>
            <a:ext cx="4480560" cy="365760"/>
          </a:xfrm>
          <a:prstGeom prst="rect">
            <a:avLst/>
          </a:prstGeom>
          <a:noFill/>
          <a:ln/>
        </p:spPr>
        <p:txBody>
          <a:bodyPr wrap="square" rtlCol="0" anchor="ctr"/>
          <a:lstStyle/>
          <a:p>
            <a:pPr indent="0" marL="0">
              <a:buNone/>
            </a:pPr>
            <a:r>
              <a:rPr lang="en-US" sz="1400" b="1" dirty="0">
                <a:solidFill>
                  <a:srgbClr val="991B1B"/>
                </a:solidFill>
                <a:latin typeface="Arial" pitchFamily="34" charset="0"/>
                <a:ea typeface="Arial" pitchFamily="34" charset="-122"/>
                <a:cs typeface="Arial" pitchFamily="34" charset="-120"/>
              </a:rPr>
              <a:t>THE ECOSYSTEM GAP TODAY</a:t>
            </a:r>
            <a:endParaRPr lang="en-US" sz="1400" dirty="0"/>
          </a:p>
        </p:txBody>
      </p:sp>
      <p:sp>
        <p:nvSpPr>
          <p:cNvPr id="6" name="Text 4"/>
          <p:cNvSpPr/>
          <p:nvPr/>
        </p:nvSpPr>
        <p:spPr>
          <a:xfrm>
            <a:off x="1005840" y="2377440"/>
            <a:ext cx="4480560" cy="3383280"/>
          </a:xfrm>
          <a:prstGeom prst="rect">
            <a:avLst/>
          </a:prstGeom>
          <a:noFill/>
          <a:ln/>
        </p:spPr>
        <p:txBody>
          <a:bodyPr wrap="square" rtlCol="0" anchor="ctr"/>
          <a:lstStyle/>
          <a:p>
            <a:pPr indent="0" marL="0">
              <a:lnSpc>
                <a:spcPts val="1800"/>
              </a:lnSpc>
              <a:buNone/>
            </a:pPr>
            <a:r>
              <a:rPr lang="en-US" sz="1200" b="1" dirty="0">
                <a:solidFill>
                  <a:srgbClr val="1C2421"/>
                </a:solidFill>
                <a:latin typeface="Arial" pitchFamily="34" charset="0"/>
                <a:ea typeface="Arial" pitchFamily="34" charset="-122"/>
                <a:cs typeface="Arial" pitchFamily="34" charset="-120"/>
              </a:rPr>
              <a:t>• Ethereum EAS Benchmark: </a:t>
            </a:r>
            <a:pPr indent="0" marL="0">
              <a:lnSpc>
                <a:spcPts val="1800"/>
              </a:lnSpc>
              <a:buNone/>
            </a:pPr>
            <a:r>
              <a:rPr lang="en-US" sz="1200" dirty="0">
                <a:solidFill>
                  <a:srgbClr val="1C2421"/>
                </a:solidFill>
                <a:latin typeface="Arial" pitchFamily="34" charset="0"/>
                <a:ea typeface="Arial" pitchFamily="34" charset="-122"/>
                <a:cs typeface="Arial" pitchFamily="34" charset="-120"/>
              </a:rPr>
              <a:t>Ethereum pioneered verifiable claims with EAS, but L1 gas spikes ($5-$25 USD) disqualify it from rural micro-settlements.
</a:t>
            </a:r>
            <a:pPr indent="0" marL="0">
              <a:lnSpc>
                <a:spcPts val="1800"/>
              </a:lnSpc>
              <a:buNone/>
            </a:pPr>
            <a:r>
              <a:rPr lang="en-US" sz="1200" b="1" dirty="0">
                <a:solidFill>
                  <a:srgbClr val="1C2421"/>
                </a:solidFill>
                <a:latin typeface="Arial" pitchFamily="34" charset="0"/>
                <a:ea typeface="Arial" pitchFamily="34" charset="-122"/>
                <a:cs typeface="Arial" pitchFamily="34" charset="-120"/>
              </a:rPr>
              <a:t>• Stellar Classic Legacy: </a:t>
            </a:r>
            <a:pPr indent="0" marL="0">
              <a:lnSpc>
                <a:spcPts val="1800"/>
              </a:lnSpc>
              <a:buNone/>
            </a:pPr>
            <a:r>
              <a:rPr lang="en-US" sz="1200" dirty="0">
                <a:solidFill>
                  <a:srgbClr val="1C2421"/>
                </a:solidFill>
                <a:latin typeface="Arial" pitchFamily="34" charset="0"/>
                <a:ea typeface="Arial" pitchFamily="34" charset="-122"/>
                <a:cs typeface="Arial" pitchFamily="34" charset="-120"/>
              </a:rPr>
              <a:t>SEP-10 (auth) and SEP-12 (KYC) are client-server REST APIs. They do not live on-chain as Turing-complete smart contracts.
</a:t>
            </a:r>
            <a:pPr indent="0" marL="0">
              <a:lnSpc>
                <a:spcPts val="1800"/>
              </a:lnSpc>
              <a:buNone/>
            </a:pPr>
            <a:r>
              <a:rPr lang="en-US" sz="1200" b="1" dirty="0">
                <a:solidFill>
                  <a:srgbClr val="1C2421"/>
                </a:solidFill>
                <a:latin typeface="Arial" pitchFamily="34" charset="0"/>
                <a:ea typeface="Arial" pitchFamily="34" charset="-122"/>
                <a:cs typeface="Arial" pitchFamily="34" charset="-120"/>
              </a:rPr>
              <a:t>• Fragmented RWA Solutions: </a:t>
            </a:r>
            <a:pPr indent="0" marL="0">
              <a:lnSpc>
                <a:spcPts val="1800"/>
              </a:lnSpc>
              <a:buNone/>
            </a:pPr>
            <a:r>
              <a:rPr lang="en-US" sz="1200" dirty="0">
                <a:solidFill>
                  <a:srgbClr val="1C2421"/>
                </a:solidFill>
                <a:latin typeface="Arial" pitchFamily="34" charset="0"/>
                <a:ea typeface="Arial" pitchFamily="34" charset="-122"/>
                <a:cs typeface="Arial" pitchFamily="34" charset="-120"/>
              </a:rPr>
              <a:t>Without a standardized attestation interface, every commodity or supply chain project on Soroban must build bespoke, non-interoperable smart contracts.</a:t>
            </a:r>
            <a:endParaRPr lang="en-US" sz="1200" dirty="0"/>
          </a:p>
        </p:txBody>
      </p:sp>
      <p:sp>
        <p:nvSpPr>
          <p:cNvPr id="7" name="Shape 5"/>
          <p:cNvSpPr/>
          <p:nvPr/>
        </p:nvSpPr>
        <p:spPr>
          <a:xfrm>
            <a:off x="6217920" y="1645920"/>
            <a:ext cx="5029200" cy="4389120"/>
          </a:xfrm>
          <a:prstGeom prst="roundRect">
            <a:avLst/>
          </a:prstGeom>
          <a:solidFill>
            <a:srgbClr val="F0FDF4"/>
          </a:solidFill>
          <a:ln w="19050">
            <a:solidFill>
              <a:srgbClr val="86EFAC"/>
            </a:solidFill>
            <a:prstDash val="solid"/>
          </a:ln>
        </p:spPr>
      </p:sp>
      <p:sp>
        <p:nvSpPr>
          <p:cNvPr id="8" name="Text 6"/>
          <p:cNvSpPr/>
          <p:nvPr/>
        </p:nvSpPr>
        <p:spPr>
          <a:xfrm>
            <a:off x="6492240" y="1920240"/>
            <a:ext cx="4480560" cy="365760"/>
          </a:xfrm>
          <a:prstGeom prst="rect">
            <a:avLst/>
          </a:prstGeom>
          <a:noFill/>
          <a:ln/>
        </p:spPr>
        <p:txBody>
          <a:bodyPr wrap="square" rtlCol="0" anchor="ctr"/>
          <a:lstStyle/>
          <a:p>
            <a:pPr indent="0" marL="0">
              <a:buNone/>
            </a:pPr>
            <a:r>
              <a:rPr lang="en-US" sz="1400" b="1" dirty="0">
                <a:solidFill>
                  <a:srgbClr val="166534"/>
                </a:solidFill>
                <a:latin typeface="Arial" pitchFamily="34" charset="0"/>
                <a:ea typeface="Arial" pitchFamily="34" charset="-122"/>
                <a:cs typeface="Arial" pitchFamily="34" charset="-120"/>
              </a:rPr>
              <a:t>OUR OPEN CONTRIBUTION (SEP-RWA)</a:t>
            </a:r>
            <a:endParaRPr lang="en-US" sz="1400" dirty="0"/>
          </a:p>
        </p:txBody>
      </p:sp>
      <p:sp>
        <p:nvSpPr>
          <p:cNvPr id="9" name="Text 7"/>
          <p:cNvSpPr/>
          <p:nvPr/>
        </p:nvSpPr>
        <p:spPr>
          <a:xfrm>
            <a:off x="6492240" y="2377440"/>
            <a:ext cx="4480560" cy="3383280"/>
          </a:xfrm>
          <a:prstGeom prst="rect">
            <a:avLst/>
          </a:prstGeom>
          <a:noFill/>
          <a:ln/>
        </p:spPr>
        <p:txBody>
          <a:bodyPr wrap="square" rtlCol="0" anchor="ctr"/>
          <a:lstStyle/>
          <a:p>
            <a:pPr indent="0" marL="0">
              <a:lnSpc>
                <a:spcPts val="1800"/>
              </a:lnSpc>
              <a:buNone/>
            </a:pPr>
            <a:r>
              <a:rPr lang="en-US" sz="1200" b="1" dirty="0">
                <a:solidFill>
                  <a:srgbClr val="14532D"/>
                </a:solidFill>
                <a:latin typeface="Arial" pitchFamily="34" charset="0"/>
                <a:ea typeface="Arial" pitchFamily="34" charset="-122"/>
                <a:cs typeface="Arial" pitchFamily="34" charset="-120"/>
              </a:rPr>
              <a:t>• The "EAS of Stellar": </a:t>
            </a:r>
            <a:pPr indent="0" marL="0">
              <a:lnSpc>
                <a:spcPts val="1800"/>
              </a:lnSpc>
              <a:buNone/>
            </a:pPr>
            <a:r>
              <a:rPr lang="en-US" sz="1200" dirty="0">
                <a:solidFill>
                  <a:srgbClr val="14532D"/>
                </a:solidFill>
                <a:latin typeface="Arial" pitchFamily="34" charset="0"/>
                <a:ea typeface="Arial" pitchFamily="34" charset="-122"/>
                <a:cs typeface="Arial" pitchFamily="34" charset="-120"/>
              </a:rPr>
              <a:t>An open, composable Schema Registry in Rust on Soroban Protocol 22.
</a:t>
            </a:r>
            <a:pPr indent="0" marL="0">
              <a:lnSpc>
                <a:spcPts val="1800"/>
              </a:lnSpc>
              <a:buNone/>
            </a:pPr>
            <a:r>
              <a:rPr lang="en-US" sz="1200" b="1" dirty="0">
                <a:solidFill>
                  <a:srgbClr val="14532D"/>
                </a:solidFill>
                <a:latin typeface="Arial" pitchFamily="34" charset="0"/>
                <a:ea typeface="Arial" pitchFamily="34" charset="-122"/>
                <a:cs typeface="Arial" pitchFamily="34" charset="-120"/>
              </a:rPr>
              <a:t>• Micro-Cent Verifications: </a:t>
            </a:r>
            <a:pPr indent="0" marL="0">
              <a:lnSpc>
                <a:spcPts val="1800"/>
              </a:lnSpc>
              <a:buNone/>
            </a:pPr>
            <a:r>
              <a:rPr lang="en-US" sz="1200" dirty="0">
                <a:solidFill>
                  <a:srgbClr val="14532D"/>
                </a:solidFill>
                <a:latin typeface="Arial" pitchFamily="34" charset="0"/>
                <a:ea typeface="Arial" pitchFamily="34" charset="-122"/>
                <a:cs typeface="Arial" pitchFamily="34" charset="-120"/>
              </a:rPr>
              <a:t>Finality in ~5 seconds at $0.00001 USD per attestation, enabling millions of micro-agricultural claims.
</a:t>
            </a:r>
            <a:pPr indent="0" marL="0">
              <a:lnSpc>
                <a:spcPts val="1800"/>
              </a:lnSpc>
              <a:buNone/>
            </a:pPr>
            <a:r>
              <a:rPr lang="en-US" sz="1200" b="1" dirty="0">
                <a:solidFill>
                  <a:srgbClr val="14532D"/>
                </a:solidFill>
                <a:latin typeface="Arial" pitchFamily="34" charset="0"/>
                <a:ea typeface="Arial" pitchFamily="34" charset="-122"/>
                <a:cs typeface="Arial" pitchFamily="34" charset="-120"/>
              </a:rPr>
              <a:t>• Native State TTL Management: </a:t>
            </a:r>
            <a:pPr indent="0" marL="0">
              <a:lnSpc>
                <a:spcPts val="1800"/>
              </a:lnSpc>
              <a:buNone/>
            </a:pPr>
            <a:r>
              <a:rPr lang="en-US" sz="1200" dirty="0">
                <a:solidFill>
                  <a:srgbClr val="14532D"/>
                </a:solidFill>
                <a:latin typeface="Arial" pitchFamily="34" charset="0"/>
                <a:ea typeface="Arial" pitchFamily="34" charset="-122"/>
                <a:cs typeface="Arial" pitchFamily="34" charset="-120"/>
              </a:rPr>
              <a:t>Full utilization of Soroban persistent storage with automated extend_ttl for decades-long ledger durability.
</a:t>
            </a:r>
            <a:pPr indent="0" marL="0">
              <a:lnSpc>
                <a:spcPts val="1800"/>
              </a:lnSpc>
              <a:buNone/>
            </a:pPr>
            <a:r>
              <a:rPr lang="en-US" sz="1200" b="1" dirty="0">
                <a:solidFill>
                  <a:srgbClr val="14532D"/>
                </a:solidFill>
                <a:latin typeface="Arial" pitchFamily="34" charset="0"/>
                <a:ea typeface="Arial" pitchFamily="34" charset="-122"/>
                <a:cs typeface="Arial" pitchFamily="34" charset="-120"/>
              </a:rPr>
              <a:t>• Formal Draft Proposal: </a:t>
            </a:r>
            <a:pPr indent="0" marL="0">
              <a:lnSpc>
                <a:spcPts val="1800"/>
              </a:lnSpc>
              <a:buNone/>
            </a:pPr>
            <a:r>
              <a:rPr lang="en-US" sz="1200" dirty="0">
                <a:solidFill>
                  <a:srgbClr val="14532D"/>
                </a:solidFill>
                <a:latin typeface="Arial" pitchFamily="34" charset="0"/>
                <a:ea typeface="Arial" pitchFamily="34" charset="-122"/>
                <a:cs typeface="Arial" pitchFamily="34" charset="-120"/>
              </a:rPr>
              <a:t>Complete open specification ready for SDF review in docs/SEP_RWA_ATTESTATION_DRAFT.md.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THE CORE SMART CONTRACT ARCHITECTURE</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Three Modular, Interconnected Rust Contracts on Soroban Protocol 22</a:t>
            </a:r>
            <a:endParaRPr lang="en-US" sz="1400" dirty="0"/>
          </a:p>
        </p:txBody>
      </p:sp>
      <p:sp>
        <p:nvSpPr>
          <p:cNvPr id="4" name="Shape 2"/>
          <p:cNvSpPr/>
          <p:nvPr/>
        </p:nvSpPr>
        <p:spPr>
          <a:xfrm>
            <a:off x="731520" y="1645920"/>
            <a:ext cx="3291840" cy="4389120"/>
          </a:xfrm>
          <a:prstGeom prst="roundRect">
            <a:avLst/>
          </a:prstGeom>
          <a:solidFill>
            <a:srgbClr val="FFFFFF"/>
          </a:solidFill>
          <a:ln w="12700">
            <a:solidFill>
              <a:srgbClr val="E5E7EB"/>
            </a:solidFill>
            <a:prstDash val="solid"/>
          </a:ln>
        </p:spPr>
      </p:sp>
      <p:sp>
        <p:nvSpPr>
          <p:cNvPr id="5" name="Text 3"/>
          <p:cNvSpPr/>
          <p:nvPr/>
        </p:nvSpPr>
        <p:spPr>
          <a:xfrm>
            <a:off x="1005840" y="1920240"/>
            <a:ext cx="27432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1. AttestationRegistry.rs</a:t>
            </a:r>
            <a:endParaRPr lang="en-US" sz="1300" dirty="0"/>
          </a:p>
        </p:txBody>
      </p:sp>
      <p:sp>
        <p:nvSpPr>
          <p:cNvPr id="6" name="Text 4"/>
          <p:cNvSpPr/>
          <p:nvPr/>
        </p:nvSpPr>
        <p:spPr>
          <a:xfrm>
            <a:off x="1005840" y="2286000"/>
            <a:ext cx="2743200" cy="27432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The On-Chain Notarial Ledger</a:t>
            </a:r>
            <a:endParaRPr lang="en-US" sz="1000" dirty="0"/>
          </a:p>
        </p:txBody>
      </p:sp>
      <p:sp>
        <p:nvSpPr>
          <p:cNvPr id="7" name="Text 5"/>
          <p:cNvSpPr/>
          <p:nvPr/>
        </p:nvSpPr>
        <p:spPr>
          <a:xfrm>
            <a:off x="1005840" y="2697480"/>
            <a:ext cx="2743200" cy="301752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 Stores immutable AttestationSchema structs.</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Registers deterministic AttestationRecord entries.</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Canonical SHA-256 digests &amp; Ed25519 signatures.</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Soroban State Rent TTL extensions (100k - 500k ledgers).</a:t>
            </a:r>
            <a:endParaRPr lang="en-US" sz="1100" dirty="0"/>
          </a:p>
        </p:txBody>
      </p:sp>
      <p:sp>
        <p:nvSpPr>
          <p:cNvPr id="8" name="Shape 6"/>
          <p:cNvSpPr/>
          <p:nvPr/>
        </p:nvSpPr>
        <p:spPr>
          <a:xfrm>
            <a:off x="4343400" y="1645920"/>
            <a:ext cx="3291840" cy="4389120"/>
          </a:xfrm>
          <a:prstGeom prst="roundRect">
            <a:avLst/>
          </a:prstGeom>
          <a:solidFill>
            <a:srgbClr val="FFFFFF"/>
          </a:solidFill>
          <a:ln w="12700">
            <a:solidFill>
              <a:srgbClr val="E5E7EB"/>
            </a:solidFill>
            <a:prstDash val="solid"/>
          </a:ln>
        </p:spPr>
      </p:sp>
      <p:sp>
        <p:nvSpPr>
          <p:cNvPr id="9" name="Text 7"/>
          <p:cNvSpPr/>
          <p:nvPr/>
        </p:nvSpPr>
        <p:spPr>
          <a:xfrm>
            <a:off x="4617720" y="1920240"/>
            <a:ext cx="27432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2. FairEscrow.rs</a:t>
            </a:r>
            <a:endParaRPr lang="en-US" sz="1300" dirty="0"/>
          </a:p>
        </p:txBody>
      </p:sp>
      <p:sp>
        <p:nvSpPr>
          <p:cNvPr id="10" name="Text 8"/>
          <p:cNvSpPr/>
          <p:nvPr/>
        </p:nvSpPr>
        <p:spPr>
          <a:xfrm>
            <a:off x="4617720" y="2286000"/>
            <a:ext cx="2743200" cy="27432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Conditional Payment Gateway</a:t>
            </a:r>
            <a:endParaRPr lang="en-US" sz="1000" dirty="0"/>
          </a:p>
        </p:txBody>
      </p:sp>
      <p:sp>
        <p:nvSpPr>
          <p:cNvPr id="11" name="Text 9"/>
          <p:cNvSpPr/>
          <p:nvPr/>
        </p:nvSpPr>
        <p:spPr>
          <a:xfrm>
            <a:off x="4617720" y="2697480"/>
            <a:ext cx="2743200" cy="301752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 Locks buyer stablecoin liquidity (USDC / MXNe).</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Releases funds ONLY upon valid delivery_attestation_uid.</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Anti-Coyote Guardrails: Programmatic price floors.</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Zero platform take-rate for primary producers.</a:t>
            </a:r>
            <a:endParaRPr lang="en-US" sz="1100" dirty="0"/>
          </a:p>
        </p:txBody>
      </p:sp>
      <p:sp>
        <p:nvSpPr>
          <p:cNvPr id="12" name="Shape 10"/>
          <p:cNvSpPr/>
          <p:nvPr/>
        </p:nvSpPr>
        <p:spPr>
          <a:xfrm>
            <a:off x="7955280" y="1645920"/>
            <a:ext cx="3291840" cy="4389120"/>
          </a:xfrm>
          <a:prstGeom prst="roundRect">
            <a:avLst/>
          </a:prstGeom>
          <a:solidFill>
            <a:srgbClr val="FFFFFF"/>
          </a:solidFill>
          <a:ln w="12700">
            <a:solidFill>
              <a:srgbClr val="E5E7EB"/>
            </a:solidFill>
            <a:prstDash val="solid"/>
          </a:ln>
        </p:spPr>
      </p:sp>
      <p:sp>
        <p:nvSpPr>
          <p:cNvPr id="13" name="Text 11"/>
          <p:cNvSpPr/>
          <p:nvPr/>
        </p:nvSpPr>
        <p:spPr>
          <a:xfrm>
            <a:off x="8229600" y="1920240"/>
            <a:ext cx="27432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3. PerpetualRoyalties.rs</a:t>
            </a:r>
            <a:endParaRPr lang="en-US" sz="1300" dirty="0"/>
          </a:p>
        </p:txBody>
      </p:sp>
      <p:sp>
        <p:nvSpPr>
          <p:cNvPr id="14" name="Text 12"/>
          <p:cNvSpPr/>
          <p:nvPr/>
        </p:nvSpPr>
        <p:spPr>
          <a:xfrm>
            <a:off x="8229600" y="2286000"/>
            <a:ext cx="2743200" cy="27432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Automated Secondary Resale Engine</a:t>
            </a:r>
            <a:endParaRPr lang="en-US" sz="1000" dirty="0"/>
          </a:p>
        </p:txBody>
      </p:sp>
      <p:sp>
        <p:nvSpPr>
          <p:cNvPr id="15" name="Text 13"/>
          <p:cNvSpPr/>
          <p:nvPr/>
        </p:nvSpPr>
        <p:spPr>
          <a:xfrm>
            <a:off x="8229600" y="2697480"/>
            <a:ext cx="2743200" cy="301752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 Enforces 10% perpetual royalties on gallery resales.</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Routes funds directly to original artisan public key.</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Allocates 2% to Communal Assembly Treasury (Tequio).</a:t>
            </a:r>
            <a:endParaRPr lang="en-US" sz="1100" dirty="0"/>
          </a:p>
          <a:p>
            <a:pPr indent="0" marL="0">
              <a:lnSpc>
                <a:spcPts val="1600"/>
              </a:lnSpc>
              <a:buNone/>
            </a:pPr>
            <a:endParaRPr lang="en-US" sz="1100" dirty="0"/>
          </a:p>
          <a:p>
            <a:pPr indent="0" marL="0">
              <a:lnSpc>
                <a:spcPts val="1600"/>
              </a:lnSpc>
              <a:buNone/>
            </a:pPr>
            <a:r>
              <a:rPr lang="en-US" sz="1100" dirty="0">
                <a:solidFill>
                  <a:srgbClr val="1C2421"/>
                </a:solidFill>
                <a:latin typeface="Arial" pitchFamily="34" charset="0"/>
                <a:ea typeface="Arial" pitchFamily="34" charset="-122"/>
                <a:cs typeface="Arial" pitchFamily="34" charset="-120"/>
              </a:rPr>
              <a:t>• Protects collective indigenous cultural heritage.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THE CENTAUR MODEL: AI ORACLES &amp; INDIGENOUS GOVERNANCE</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Reconciling Customary Law (Usos y Costumbres) with Machine Intelligence</a:t>
            </a:r>
            <a:endParaRPr lang="en-US" sz="1400" dirty="0"/>
          </a:p>
        </p:txBody>
      </p:sp>
      <p:sp>
        <p:nvSpPr>
          <p:cNvPr id="4" name="Shape 2"/>
          <p:cNvSpPr/>
          <p:nvPr/>
        </p:nvSpPr>
        <p:spPr>
          <a:xfrm>
            <a:off x="731520" y="1645920"/>
            <a:ext cx="5029200" cy="3108960"/>
          </a:xfrm>
          <a:prstGeom prst="roundRect">
            <a:avLst/>
          </a:prstGeom>
          <a:solidFill>
            <a:srgbClr val="FFFFFF"/>
          </a:solidFill>
          <a:ln w="12700">
            <a:solidFill>
              <a:srgbClr val="E5E7EB"/>
            </a:solidFill>
            <a:prstDash val="solid"/>
          </a:ln>
        </p:spPr>
      </p:sp>
      <p:sp>
        <p:nvSpPr>
          <p:cNvPr id="5" name="Text 3"/>
          <p:cNvSpPr/>
          <p:nvPr/>
        </p:nvSpPr>
        <p:spPr>
          <a:xfrm>
            <a:off x="1005840" y="1920240"/>
            <a:ext cx="4480560" cy="320040"/>
          </a:xfrm>
          <a:prstGeom prst="rect">
            <a:avLst/>
          </a:prstGeom>
          <a:noFill/>
          <a:ln/>
        </p:spPr>
        <p:txBody>
          <a:bodyPr wrap="square" rtlCol="0" anchor="ctr"/>
          <a:lstStyle/>
          <a:p>
            <a:pPr indent="0" marL="0">
              <a:buNone/>
            </a:pPr>
            <a:r>
              <a:rPr lang="en-US" sz="1300" b="1" dirty="0">
                <a:solidFill>
                  <a:srgbClr val="1E40AF"/>
                </a:solidFill>
                <a:latin typeface="Arial" pitchFamily="34" charset="0"/>
                <a:ea typeface="Arial" pitchFamily="34" charset="-122"/>
                <a:cs typeface="Arial" pitchFamily="34" charset="-120"/>
              </a:rPr>
              <a:t>1. AUTONOMOUS AI ORACLES (Technical Rigor)</a:t>
            </a:r>
            <a:endParaRPr lang="en-US" sz="1300" dirty="0"/>
          </a:p>
        </p:txBody>
      </p:sp>
      <p:sp>
        <p:nvSpPr>
          <p:cNvPr id="6" name="Text 4"/>
          <p:cNvSpPr/>
          <p:nvPr/>
        </p:nvSpPr>
        <p:spPr>
          <a:xfrm>
            <a:off x="1005840" y="2286000"/>
            <a:ext cx="4480560" cy="2286000"/>
          </a:xfrm>
          <a:prstGeom prst="rect">
            <a:avLst/>
          </a:prstGeom>
          <a:noFill/>
          <a:ln/>
        </p:spPr>
        <p:txBody>
          <a:bodyPr wrap="square" rtlCol="0" anchor="ctr"/>
          <a:lstStyle/>
          <a:p>
            <a:pPr indent="0" marL="0">
              <a:lnSpc>
                <a:spcPts val="1500"/>
              </a:lnSpc>
              <a:buNone/>
            </a:pPr>
            <a:r>
              <a:rPr lang="en-US" sz="1100" b="1" dirty="0">
                <a:solidFill>
                  <a:srgbClr val="1C2421"/>
                </a:solidFill>
                <a:latin typeface="Arial" pitchFamily="34" charset="0"/>
                <a:ea typeface="Arial" pitchFamily="34" charset="-122"/>
                <a:cs typeface="Arial" pitchFamily="34" charset="-120"/>
              </a:rPr>
              <a:t>• AIEUDRSatelliteOracle: </a:t>
            </a:r>
            <a:pPr indent="0" marL="0">
              <a:lnSpc>
                <a:spcPts val="1500"/>
              </a:lnSpc>
              <a:buNone/>
            </a:pPr>
            <a:r>
              <a:rPr lang="en-US" sz="1100" dirty="0">
                <a:solidFill>
                  <a:srgbClr val="1C2421"/>
                </a:solidFill>
                <a:latin typeface="Arial" pitchFamily="34" charset="0"/>
                <a:ea typeface="Arial" pitchFamily="34" charset="-122"/>
                <a:cs typeface="Arial" pitchFamily="34" charset="-120"/>
              </a:rPr>
              <a:t>Analyzes 5 years of Copernicus Sentinel-2 satellite imagery to certify EU Deforestation Regulation (EUDR) zero-deforestation.
</a:t>
            </a:r>
            <a:pPr indent="0" marL="0">
              <a:lnSpc>
                <a:spcPts val="1500"/>
              </a:lnSpc>
              <a:buNone/>
            </a:pPr>
            <a:r>
              <a:rPr lang="en-US" sz="1100" b="1" dirty="0">
                <a:solidFill>
                  <a:srgbClr val="1C2421"/>
                </a:solidFill>
                <a:latin typeface="Arial" pitchFamily="34" charset="0"/>
                <a:ea typeface="Arial" pitchFamily="34" charset="-122"/>
                <a:cs typeface="Arial" pitchFamily="34" charset="-120"/>
              </a:rPr>
              <a:t>• AIQualityOracle: </a:t>
            </a:r>
            <a:pPr indent="0" marL="0">
              <a:lnSpc>
                <a:spcPts val="1500"/>
              </a:lnSpc>
              <a:buNone/>
            </a:pPr>
            <a:r>
              <a:rPr lang="en-US" sz="1100" dirty="0">
                <a:solidFill>
                  <a:srgbClr val="1C2421"/>
                </a:solidFill>
                <a:latin typeface="Arial" pitchFamily="34" charset="0"/>
                <a:ea typeface="Arial" pitchFamily="34" charset="-122"/>
                <a:cs typeface="Arial" pitchFamily="34" charset="-120"/>
              </a:rPr>
              <a:t>Evaluates SCAA physical bean defect ratios and textile warp/weft density via computer vision models.
</a:t>
            </a:r>
            <a:pPr indent="0" marL="0">
              <a:lnSpc>
                <a:spcPts val="1500"/>
              </a:lnSpc>
              <a:buNone/>
            </a:pPr>
            <a:r>
              <a:rPr lang="en-US" sz="1100" b="1" dirty="0">
                <a:solidFill>
                  <a:srgbClr val="1C2421"/>
                </a:solidFill>
                <a:latin typeface="Arial" pitchFamily="34" charset="0"/>
                <a:ea typeface="Arial" pitchFamily="34" charset="-122"/>
                <a:cs typeface="Arial" pitchFamily="34" charset="-120"/>
              </a:rPr>
              <a:t>• AIVoiceOracle: </a:t>
            </a:r>
            <a:pPr indent="0" marL="0">
              <a:lnSpc>
                <a:spcPts val="1500"/>
              </a:lnSpc>
              <a:buNone/>
            </a:pPr>
            <a:r>
              <a:rPr lang="en-US" sz="1100" dirty="0">
                <a:solidFill>
                  <a:srgbClr val="1C2421"/>
                </a:solidFill>
                <a:latin typeface="Arial" pitchFamily="34" charset="0"/>
                <a:ea typeface="Arial" pitchFamily="34" charset="-122"/>
                <a:cs typeface="Arial" pitchFamily="34" charset="-120"/>
              </a:rPr>
              <a:t>Acoustic parser translating spoken indigenous Mixtec (Tu’un Savi) directly into canonical JSON payloads.</a:t>
            </a:r>
            <a:endParaRPr lang="en-US" sz="1100" dirty="0"/>
          </a:p>
        </p:txBody>
      </p:sp>
      <p:sp>
        <p:nvSpPr>
          <p:cNvPr id="7" name="Shape 5"/>
          <p:cNvSpPr/>
          <p:nvPr/>
        </p:nvSpPr>
        <p:spPr>
          <a:xfrm>
            <a:off x="6217920" y="1645920"/>
            <a:ext cx="5029200" cy="3108960"/>
          </a:xfrm>
          <a:prstGeom prst="roundRect">
            <a:avLst/>
          </a:prstGeom>
          <a:solidFill>
            <a:srgbClr val="FFFFFF"/>
          </a:solidFill>
          <a:ln w="12700">
            <a:solidFill>
              <a:srgbClr val="E5E7EB"/>
            </a:solidFill>
            <a:prstDash val="solid"/>
          </a:ln>
        </p:spPr>
      </p:sp>
      <p:sp>
        <p:nvSpPr>
          <p:cNvPr id="8" name="Text 6"/>
          <p:cNvSpPr/>
          <p:nvPr/>
        </p:nvSpPr>
        <p:spPr>
          <a:xfrm>
            <a:off x="6492240" y="1920240"/>
            <a:ext cx="4480560" cy="320040"/>
          </a:xfrm>
          <a:prstGeom prst="rect">
            <a:avLst/>
          </a:prstGeom>
          <a:noFill/>
          <a:ln/>
        </p:spPr>
        <p:txBody>
          <a:bodyPr wrap="square" rtlCol="0" anchor="ctr"/>
          <a:lstStyle/>
          <a:p>
            <a:pPr indent="0" marL="0">
              <a:buNone/>
            </a:pPr>
            <a:r>
              <a:rPr lang="en-US" sz="1300" b="1" dirty="0">
                <a:solidFill>
                  <a:srgbClr val="B45309"/>
                </a:solidFill>
                <a:latin typeface="Arial" pitchFamily="34" charset="0"/>
                <a:ea typeface="Arial" pitchFamily="34" charset="-122"/>
                <a:cs typeface="Arial" pitchFamily="34" charset="-120"/>
              </a:rPr>
              <a:t>2. COMMUNITY ELDER (Sovereign Authority)</a:t>
            </a:r>
            <a:endParaRPr lang="en-US" sz="1300" dirty="0"/>
          </a:p>
        </p:txBody>
      </p:sp>
      <p:sp>
        <p:nvSpPr>
          <p:cNvPr id="9" name="Text 7"/>
          <p:cNvSpPr/>
          <p:nvPr/>
        </p:nvSpPr>
        <p:spPr>
          <a:xfrm>
            <a:off x="6492240" y="2286000"/>
            <a:ext cx="4480560" cy="2286000"/>
          </a:xfrm>
          <a:prstGeom prst="rect">
            <a:avLst/>
          </a:prstGeom>
          <a:noFill/>
          <a:ln/>
        </p:spPr>
        <p:txBody>
          <a:bodyPr wrap="square" rtlCol="0" anchor="ctr"/>
          <a:lstStyle/>
          <a:p>
            <a:pPr indent="0" marL="0">
              <a:lnSpc>
                <a:spcPts val="1500"/>
              </a:lnSpc>
              <a:buNone/>
            </a:pPr>
            <a:r>
              <a:rPr lang="en-US" sz="1100" b="1" dirty="0">
                <a:solidFill>
                  <a:srgbClr val="1C2421"/>
                </a:solidFill>
                <a:latin typeface="Arial" pitchFamily="34" charset="0"/>
                <a:ea typeface="Arial" pitchFamily="34" charset="-122"/>
                <a:cs typeface="Arial" pitchFamily="34" charset="-120"/>
              </a:rPr>
              <a:t>• Master Weavers (Doña Reyna): </a:t>
            </a:r>
            <a:pPr indent="0" marL="0">
              <a:lnSpc>
                <a:spcPts val="1500"/>
              </a:lnSpc>
              <a:buNone/>
            </a:pPr>
            <a:r>
              <a:rPr lang="en-US" sz="1100" dirty="0">
                <a:solidFill>
                  <a:srgbClr val="1C2421"/>
                </a:solidFill>
                <a:latin typeface="Arial" pitchFamily="34" charset="0"/>
                <a:ea typeface="Arial" pitchFamily="34" charset="-122"/>
                <a:cs typeface="Arial" pitchFamily="34" charset="-120"/>
              </a:rPr>
              <a:t>Inspects tactile backstrap loom tension, natural dye purity (cochineal/indigo), and sacred iconography.
</a:t>
            </a:r>
            <a:pPr indent="0" marL="0">
              <a:lnSpc>
                <a:spcPts val="1500"/>
              </a:lnSpc>
              <a:buNone/>
            </a:pPr>
            <a:r>
              <a:rPr lang="en-US" sz="1100" b="1" dirty="0">
                <a:solidFill>
                  <a:srgbClr val="1C2421"/>
                </a:solidFill>
                <a:latin typeface="Arial" pitchFamily="34" charset="0"/>
                <a:ea typeface="Arial" pitchFamily="34" charset="-122"/>
                <a:cs typeface="Arial" pitchFamily="34" charset="-120"/>
              </a:rPr>
              <a:t>• Master Palenqueros (Don Celso / David Mendoza): </a:t>
            </a:r>
            <a:pPr indent="0" marL="0">
              <a:lnSpc>
                <a:spcPts val="1500"/>
              </a:lnSpc>
              <a:buNone/>
            </a:pPr>
            <a:r>
              <a:rPr lang="en-US" sz="1100" dirty="0">
                <a:solidFill>
                  <a:srgbClr val="1C2421"/>
                </a:solidFill>
                <a:latin typeface="Arial" pitchFamily="34" charset="0"/>
                <a:ea typeface="Arial" pitchFamily="34" charset="-122"/>
                <a:cs typeface="Arial" pitchFamily="34" charset="-120"/>
              </a:rPr>
              <a:t>Performs bubble bead testing (perlita) and sensory distillation purity checks.
</a:t>
            </a:r>
            <a:pPr indent="0" marL="0">
              <a:lnSpc>
                <a:spcPts val="1500"/>
              </a:lnSpc>
              <a:buNone/>
            </a:pPr>
            <a:r>
              <a:rPr lang="en-US" sz="1100" b="1" dirty="0">
                <a:solidFill>
                  <a:srgbClr val="1C2421"/>
                </a:solidFill>
                <a:latin typeface="Arial" pitchFamily="34" charset="0"/>
                <a:ea typeface="Arial" pitchFamily="34" charset="-122"/>
                <a:cs typeface="Arial" pitchFamily="34" charset="-120"/>
              </a:rPr>
              <a:t>• Agrarian Elders &amp; Tequio Assembly: </a:t>
            </a:r>
            <a:pPr indent="0" marL="0">
              <a:lnSpc>
                <a:spcPts val="1500"/>
              </a:lnSpc>
              <a:buNone/>
            </a:pPr>
            <a:r>
              <a:rPr lang="en-US" sz="1100" dirty="0">
                <a:solidFill>
                  <a:srgbClr val="1C2421"/>
                </a:solidFill>
                <a:latin typeface="Arial" pitchFamily="34" charset="0"/>
                <a:ea typeface="Arial" pitchFamily="34" charset="-122"/>
                <a:cs typeface="Arial" pitchFamily="34" charset="-120"/>
              </a:rPr>
              <a:t>Signs physical batch acceptance using registered Ed25519 keypairs under Mexican Indigenous Protection Law.</a:t>
            </a:r>
            <a:endParaRPr lang="en-US" sz="1100" dirty="0"/>
          </a:p>
        </p:txBody>
      </p:sp>
      <p:sp>
        <p:nvSpPr>
          <p:cNvPr id="10" name="Shape 8"/>
          <p:cNvSpPr/>
          <p:nvPr/>
        </p:nvSpPr>
        <p:spPr>
          <a:xfrm>
            <a:off x="731520" y="4983480"/>
            <a:ext cx="10515600" cy="1143000"/>
          </a:xfrm>
          <a:prstGeom prst="roundRect">
            <a:avLst/>
          </a:prstGeom>
          <a:solidFill>
            <a:srgbClr val="0A3825"/>
          </a:solidFill>
          <a:ln w="19050">
            <a:solidFill>
              <a:srgbClr val="10B981"/>
            </a:solidFill>
            <a:prstDash val="solid"/>
          </a:ln>
        </p:spPr>
      </p:sp>
      <p:sp>
        <p:nvSpPr>
          <p:cNvPr id="11" name="Text 9"/>
          <p:cNvSpPr/>
          <p:nvPr/>
        </p:nvSpPr>
        <p:spPr>
          <a:xfrm>
            <a:off x="1005840" y="5120640"/>
            <a:ext cx="9966960" cy="274320"/>
          </a:xfrm>
          <a:prstGeom prst="rect">
            <a:avLst/>
          </a:prstGeom>
          <a:noFill/>
          <a:ln/>
        </p:spPr>
        <p:txBody>
          <a:bodyPr wrap="square" rtlCol="0" anchor="ctr"/>
          <a:lstStyle/>
          <a:p>
            <a:pPr indent="0" marL="0">
              <a:buNone/>
            </a:pPr>
            <a:r>
              <a:rPr lang="en-US" sz="1200" b="1" dirty="0">
                <a:solidFill>
                  <a:srgbClr val="D97706"/>
                </a:solidFill>
                <a:latin typeface="Arial" pitchFamily="34" charset="0"/>
                <a:ea typeface="Arial" pitchFamily="34" charset="-122"/>
                <a:cs typeface="Arial" pitchFamily="34" charset="-120"/>
              </a:rPr>
              <a:t>THE DUAL-LOCK ON-CHAIN GUARANTEE</a:t>
            </a:r>
            <a:endParaRPr lang="en-US" sz="1200" dirty="0"/>
          </a:p>
        </p:txBody>
      </p:sp>
      <p:sp>
        <p:nvSpPr>
          <p:cNvPr id="12" name="Text 10"/>
          <p:cNvSpPr/>
          <p:nvPr/>
        </p:nvSpPr>
        <p:spPr>
          <a:xfrm>
            <a:off x="1005840" y="5394960"/>
            <a:ext cx="9966960" cy="594360"/>
          </a:xfrm>
          <a:prstGeom prst="rect">
            <a:avLst/>
          </a:prstGeom>
          <a:noFill/>
          <a:ln/>
        </p:spPr>
        <p:txBody>
          <a:bodyPr wrap="square" rtlCol="0" anchor="ctr"/>
          <a:lstStyle/>
          <a:p>
            <a:pPr indent="0" marL="0">
              <a:lnSpc>
                <a:spcPts val="1600"/>
              </a:lnSpc>
              <a:buNone/>
            </a:pPr>
            <a:r>
              <a:rPr lang="en-US" sz="1100" dirty="0">
                <a:solidFill>
                  <a:srgbClr val="FFFFFF"/>
                </a:solidFill>
                <a:latin typeface="Arial" pitchFamily="34" charset="0"/>
                <a:ea typeface="Arial" pitchFamily="34" charset="-122"/>
                <a:cs typeface="Arial" pitchFamily="34" charset="-120"/>
              </a:rPr>
              <a:t>Neither the AI Oracle nor the human elder can unlock FairEscrow alone. Funds are disbursed ONLY when both cryptographic signatures concur on Soroban, eliminating both algorithmic bias and local corruption.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THE PHYSICAL ANCHOR: DIGITAL PASSPORT &amp; ISO/IEC 18004 QR</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Connecting the Physical Asset to the Stellar Ledger in Under 2 Seconds</a:t>
            </a:r>
            <a:endParaRPr lang="en-US" sz="1400" dirty="0"/>
          </a:p>
        </p:txBody>
      </p:sp>
      <p:sp>
        <p:nvSpPr>
          <p:cNvPr id="4" name="Shape 2"/>
          <p:cNvSpPr/>
          <p:nvPr/>
        </p:nvSpPr>
        <p:spPr>
          <a:xfrm>
            <a:off x="731520" y="1645920"/>
            <a:ext cx="2468880" cy="4389120"/>
          </a:xfrm>
          <a:prstGeom prst="roundRect">
            <a:avLst/>
          </a:prstGeom>
          <a:solidFill>
            <a:srgbClr val="FFFFFF"/>
          </a:solidFill>
          <a:ln w="12700">
            <a:solidFill>
              <a:srgbClr val="E5E7EB"/>
            </a:solidFill>
            <a:prstDash val="solid"/>
          </a:ln>
        </p:spPr>
      </p:sp>
      <p:sp>
        <p:nvSpPr>
          <p:cNvPr id="5" name="Text 3"/>
          <p:cNvSpPr/>
          <p:nvPr/>
        </p:nvSpPr>
        <p:spPr>
          <a:xfrm>
            <a:off x="914400" y="1920240"/>
            <a:ext cx="2103120" cy="457200"/>
          </a:xfrm>
          <a:prstGeom prst="rect">
            <a:avLst/>
          </a:prstGeom>
          <a:noFill/>
          <a:ln/>
        </p:spPr>
        <p:txBody>
          <a:bodyPr wrap="square" rtlCol="0" anchor="ctr"/>
          <a:lstStyle/>
          <a:p>
            <a:pPr indent="0" marL="0">
              <a:buNone/>
            </a:pPr>
            <a:r>
              <a:rPr lang="en-US" sz="2800" b="1" dirty="0">
                <a:solidFill>
                  <a:srgbClr val="D97706"/>
                </a:solidFill>
                <a:latin typeface="Arial" pitchFamily="34" charset="0"/>
                <a:ea typeface="Arial" pitchFamily="34" charset="-122"/>
                <a:cs typeface="Arial" pitchFamily="34" charset="-120"/>
              </a:rPr>
              <a:t>01</a:t>
            </a:r>
            <a:endParaRPr lang="en-US" sz="2800" dirty="0"/>
          </a:p>
        </p:txBody>
      </p:sp>
      <p:sp>
        <p:nvSpPr>
          <p:cNvPr id="6" name="Text 4"/>
          <p:cNvSpPr/>
          <p:nvPr/>
        </p:nvSpPr>
        <p:spPr>
          <a:xfrm>
            <a:off x="914400" y="2468880"/>
            <a:ext cx="2103120" cy="36576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PHYSICAL HANG-TAG</a:t>
            </a:r>
            <a:endParaRPr lang="en-US" sz="1200" dirty="0"/>
          </a:p>
        </p:txBody>
      </p:sp>
      <p:sp>
        <p:nvSpPr>
          <p:cNvPr id="7" name="Text 5"/>
          <p:cNvSpPr/>
          <p:nvPr/>
        </p:nvSpPr>
        <p:spPr>
          <a:xfrm>
            <a:off x="914400" y="2926080"/>
            <a:ext cx="2103120" cy="292608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Vector-rendered ISO/IEC 18004 QR codes printed on biodegradable kraft paper and affixed to textiles, coffee sacks, or bottles.</a:t>
            </a:r>
            <a:endParaRPr lang="en-US" sz="1100" dirty="0"/>
          </a:p>
        </p:txBody>
      </p:sp>
      <p:sp>
        <p:nvSpPr>
          <p:cNvPr id="8" name="Shape 6"/>
          <p:cNvSpPr/>
          <p:nvPr/>
        </p:nvSpPr>
        <p:spPr>
          <a:xfrm>
            <a:off x="3429000" y="1645920"/>
            <a:ext cx="2468880" cy="4389120"/>
          </a:xfrm>
          <a:prstGeom prst="roundRect">
            <a:avLst/>
          </a:prstGeom>
          <a:solidFill>
            <a:srgbClr val="FFFFFF"/>
          </a:solidFill>
          <a:ln w="12700">
            <a:solidFill>
              <a:srgbClr val="E5E7EB"/>
            </a:solidFill>
            <a:prstDash val="solid"/>
          </a:ln>
        </p:spPr>
      </p:sp>
      <p:sp>
        <p:nvSpPr>
          <p:cNvPr id="9" name="Text 7"/>
          <p:cNvSpPr/>
          <p:nvPr/>
        </p:nvSpPr>
        <p:spPr>
          <a:xfrm>
            <a:off x="3611880" y="1920240"/>
            <a:ext cx="2103120" cy="457200"/>
          </a:xfrm>
          <a:prstGeom prst="rect">
            <a:avLst/>
          </a:prstGeom>
          <a:noFill/>
          <a:ln/>
        </p:spPr>
        <p:txBody>
          <a:bodyPr wrap="square" rtlCol="0" anchor="ctr"/>
          <a:lstStyle/>
          <a:p>
            <a:pPr indent="0" marL="0">
              <a:buNone/>
            </a:pPr>
            <a:r>
              <a:rPr lang="en-US" sz="2800" b="1" dirty="0">
                <a:solidFill>
                  <a:srgbClr val="D97706"/>
                </a:solidFill>
                <a:latin typeface="Arial" pitchFamily="34" charset="0"/>
                <a:ea typeface="Arial" pitchFamily="34" charset="-122"/>
                <a:cs typeface="Arial" pitchFamily="34" charset="-120"/>
              </a:rPr>
              <a:t>02</a:t>
            </a:r>
            <a:endParaRPr lang="en-US" sz="2800" dirty="0"/>
          </a:p>
        </p:txBody>
      </p:sp>
      <p:sp>
        <p:nvSpPr>
          <p:cNvPr id="10" name="Text 8"/>
          <p:cNvSpPr/>
          <p:nvPr/>
        </p:nvSpPr>
        <p:spPr>
          <a:xfrm>
            <a:off x="3611880" y="2468880"/>
            <a:ext cx="2103120" cy="36576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INSTANT SCAN</a:t>
            </a:r>
            <a:endParaRPr lang="en-US" sz="1200" dirty="0"/>
          </a:p>
        </p:txBody>
      </p:sp>
      <p:sp>
        <p:nvSpPr>
          <p:cNvPr id="11" name="Text 9"/>
          <p:cNvSpPr/>
          <p:nvPr/>
        </p:nvSpPr>
        <p:spPr>
          <a:xfrm>
            <a:off x="3611880" y="2926080"/>
            <a:ext cx="2103120" cy="292608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Any smartphone camera in Lisbon, NYC, or Tokyo scans the tag without installing third-party apps or creating crypto accounts.</a:t>
            </a:r>
            <a:endParaRPr lang="en-US" sz="1100" dirty="0"/>
          </a:p>
        </p:txBody>
      </p:sp>
      <p:sp>
        <p:nvSpPr>
          <p:cNvPr id="12" name="Shape 10"/>
          <p:cNvSpPr/>
          <p:nvPr/>
        </p:nvSpPr>
        <p:spPr>
          <a:xfrm>
            <a:off x="6126480" y="1645920"/>
            <a:ext cx="2468880" cy="4389120"/>
          </a:xfrm>
          <a:prstGeom prst="roundRect">
            <a:avLst/>
          </a:prstGeom>
          <a:solidFill>
            <a:srgbClr val="FFFFFF"/>
          </a:solidFill>
          <a:ln w="12700">
            <a:solidFill>
              <a:srgbClr val="E5E7EB"/>
            </a:solidFill>
            <a:prstDash val="solid"/>
          </a:ln>
        </p:spPr>
      </p:sp>
      <p:sp>
        <p:nvSpPr>
          <p:cNvPr id="13" name="Text 11"/>
          <p:cNvSpPr/>
          <p:nvPr/>
        </p:nvSpPr>
        <p:spPr>
          <a:xfrm>
            <a:off x="6309360" y="1920240"/>
            <a:ext cx="2103120" cy="457200"/>
          </a:xfrm>
          <a:prstGeom prst="rect">
            <a:avLst/>
          </a:prstGeom>
          <a:noFill/>
          <a:ln/>
        </p:spPr>
        <p:txBody>
          <a:bodyPr wrap="square" rtlCol="0" anchor="ctr"/>
          <a:lstStyle/>
          <a:p>
            <a:pPr indent="0" marL="0">
              <a:buNone/>
            </a:pPr>
            <a:r>
              <a:rPr lang="en-US" sz="2800" b="1" dirty="0">
                <a:solidFill>
                  <a:srgbClr val="D97706"/>
                </a:solidFill>
                <a:latin typeface="Arial" pitchFamily="34" charset="0"/>
                <a:ea typeface="Arial" pitchFamily="34" charset="-122"/>
                <a:cs typeface="Arial" pitchFamily="34" charset="-120"/>
              </a:rPr>
              <a:t>03</a:t>
            </a:r>
            <a:endParaRPr lang="en-US" sz="2800" dirty="0"/>
          </a:p>
        </p:txBody>
      </p:sp>
      <p:sp>
        <p:nvSpPr>
          <p:cNvPr id="14" name="Text 12"/>
          <p:cNvSpPr/>
          <p:nvPr/>
        </p:nvSpPr>
        <p:spPr>
          <a:xfrm>
            <a:off x="6309360" y="2468880"/>
            <a:ext cx="2103120" cy="36576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ORAL TESTIMONY</a:t>
            </a:r>
            <a:endParaRPr lang="en-US" sz="1200" dirty="0"/>
          </a:p>
        </p:txBody>
      </p:sp>
      <p:sp>
        <p:nvSpPr>
          <p:cNvPr id="15" name="Text 13"/>
          <p:cNvSpPr/>
          <p:nvPr/>
        </p:nvSpPr>
        <p:spPr>
          <a:xfrm>
            <a:off x="6309360" y="2926080"/>
            <a:ext cx="2103120" cy="292608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The consumer listens to Doña Reyna speak in her native Tu’un Savi language, validating the cultural meaning behind every motif.</a:t>
            </a:r>
            <a:endParaRPr lang="en-US" sz="1100" dirty="0"/>
          </a:p>
        </p:txBody>
      </p:sp>
      <p:sp>
        <p:nvSpPr>
          <p:cNvPr id="16" name="Shape 14"/>
          <p:cNvSpPr/>
          <p:nvPr/>
        </p:nvSpPr>
        <p:spPr>
          <a:xfrm>
            <a:off x="8823960" y="1645920"/>
            <a:ext cx="2468880" cy="4389120"/>
          </a:xfrm>
          <a:prstGeom prst="roundRect">
            <a:avLst/>
          </a:prstGeom>
          <a:solidFill>
            <a:srgbClr val="FFFFFF"/>
          </a:solidFill>
          <a:ln w="12700">
            <a:solidFill>
              <a:srgbClr val="E5E7EB"/>
            </a:solidFill>
            <a:prstDash val="solid"/>
          </a:ln>
        </p:spPr>
      </p:sp>
      <p:sp>
        <p:nvSpPr>
          <p:cNvPr id="17" name="Text 15"/>
          <p:cNvSpPr/>
          <p:nvPr/>
        </p:nvSpPr>
        <p:spPr>
          <a:xfrm>
            <a:off x="9006840" y="1920240"/>
            <a:ext cx="2103120" cy="457200"/>
          </a:xfrm>
          <a:prstGeom prst="rect">
            <a:avLst/>
          </a:prstGeom>
          <a:noFill/>
          <a:ln/>
        </p:spPr>
        <p:txBody>
          <a:bodyPr wrap="square" rtlCol="0" anchor="ctr"/>
          <a:lstStyle/>
          <a:p>
            <a:pPr indent="0" marL="0">
              <a:buNone/>
            </a:pPr>
            <a:r>
              <a:rPr lang="en-US" sz="2800" b="1" dirty="0">
                <a:solidFill>
                  <a:srgbClr val="D97706"/>
                </a:solidFill>
                <a:latin typeface="Arial" pitchFamily="34" charset="0"/>
                <a:ea typeface="Arial" pitchFamily="34" charset="-122"/>
                <a:cs typeface="Arial" pitchFamily="34" charset="-120"/>
              </a:rPr>
              <a:t>04</a:t>
            </a:r>
            <a:endParaRPr lang="en-US" sz="2800" dirty="0"/>
          </a:p>
        </p:txBody>
      </p:sp>
      <p:sp>
        <p:nvSpPr>
          <p:cNvPr id="18" name="Text 16"/>
          <p:cNvSpPr/>
          <p:nvPr/>
        </p:nvSpPr>
        <p:spPr>
          <a:xfrm>
            <a:off x="9006840" y="2468880"/>
            <a:ext cx="2103120" cy="365760"/>
          </a:xfrm>
          <a:prstGeom prst="rect">
            <a:avLst/>
          </a:prstGeom>
          <a:noFill/>
          <a:ln/>
        </p:spPr>
        <p:txBody>
          <a:bodyPr wrap="square" rtlCol="0" anchor="ctr"/>
          <a:lstStyle/>
          <a:p>
            <a:pPr indent="0" marL="0">
              <a:buNone/>
            </a:pPr>
            <a:r>
              <a:rPr lang="en-US" sz="1200" b="1" dirty="0">
                <a:solidFill>
                  <a:srgbClr val="032517"/>
                </a:solidFill>
                <a:latin typeface="Arial" pitchFamily="34" charset="0"/>
                <a:ea typeface="Arial" pitchFamily="34" charset="-122"/>
                <a:cs typeface="Arial" pitchFamily="34" charset="-120"/>
              </a:rPr>
              <a:t>ON-CHAIN PROOF</a:t>
            </a:r>
            <a:endParaRPr lang="en-US" sz="1200" dirty="0"/>
          </a:p>
        </p:txBody>
      </p:sp>
      <p:sp>
        <p:nvSpPr>
          <p:cNvPr id="19" name="Text 17"/>
          <p:cNvSpPr/>
          <p:nvPr/>
        </p:nvSpPr>
        <p:spPr>
          <a:xfrm>
            <a:off x="9006840" y="2926080"/>
            <a:ext cx="2103120" cy="292608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Displays the immutable Stellar block sequence, GPS parcel polygon, SCAA/EUDR badges, and proof of 98% direct payment.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INVISIBLE WEB3: ZERO-SEED-PHRASE LAST-MILE LIQUIDITY</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How Rural Producers Transact Without Bank Accounts or Internet Friction</a:t>
            </a:r>
            <a:endParaRPr lang="en-US" sz="1400" dirty="0"/>
          </a:p>
        </p:txBody>
      </p:sp>
      <p:sp>
        <p:nvSpPr>
          <p:cNvPr id="4" name="Shape 2"/>
          <p:cNvSpPr/>
          <p:nvPr/>
        </p:nvSpPr>
        <p:spPr>
          <a:xfrm>
            <a:off x="731520" y="1645920"/>
            <a:ext cx="10515600" cy="777240"/>
          </a:xfrm>
          <a:prstGeom prst="roundRect">
            <a:avLst/>
          </a:prstGeom>
          <a:solidFill>
            <a:srgbClr val="FFFFFF"/>
          </a:solidFill>
          <a:ln w="12700">
            <a:solidFill>
              <a:srgbClr val="E5E7EB"/>
            </a:solidFill>
            <a:prstDash val="solid"/>
          </a:ln>
        </p:spPr>
      </p:sp>
      <p:sp>
        <p:nvSpPr>
          <p:cNvPr id="5" name="Text 3"/>
          <p:cNvSpPr/>
          <p:nvPr/>
        </p:nvSpPr>
        <p:spPr>
          <a:xfrm>
            <a:off x="1005840" y="1783080"/>
            <a:ext cx="3200400" cy="50292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Acoustic Zero-Typing UI</a:t>
            </a:r>
            <a:endParaRPr lang="en-US" sz="1300" dirty="0"/>
          </a:p>
        </p:txBody>
      </p:sp>
      <p:sp>
        <p:nvSpPr>
          <p:cNvPr id="6" name="Text 4"/>
          <p:cNvSpPr/>
          <p:nvPr/>
        </p:nvSpPr>
        <p:spPr>
          <a:xfrm>
            <a:off x="4297680" y="1755648"/>
            <a:ext cx="6675120" cy="548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Elderly producers speak naturally in Mixtec (Tu’un Savi) or Spanish. The AI parser extracts batch kilos, technique, and parcel without touching a keyboard.</a:t>
            </a:r>
            <a:endParaRPr lang="en-US" sz="1100" dirty="0"/>
          </a:p>
        </p:txBody>
      </p:sp>
      <p:sp>
        <p:nvSpPr>
          <p:cNvPr id="7" name="Shape 5"/>
          <p:cNvSpPr/>
          <p:nvPr/>
        </p:nvSpPr>
        <p:spPr>
          <a:xfrm>
            <a:off x="731520" y="2514600"/>
            <a:ext cx="10515600" cy="777240"/>
          </a:xfrm>
          <a:prstGeom prst="roundRect">
            <a:avLst/>
          </a:prstGeom>
          <a:solidFill>
            <a:srgbClr val="FFFFFF"/>
          </a:solidFill>
          <a:ln w="12700">
            <a:solidFill>
              <a:srgbClr val="E5E7EB"/>
            </a:solidFill>
            <a:prstDash val="solid"/>
          </a:ln>
        </p:spPr>
      </p:sp>
      <p:sp>
        <p:nvSpPr>
          <p:cNvPr id="8" name="Text 6"/>
          <p:cNvSpPr/>
          <p:nvPr/>
        </p:nvSpPr>
        <p:spPr>
          <a:xfrm>
            <a:off x="1005840" y="2651760"/>
            <a:ext cx="3200400" cy="50292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Keyless Identity (DID)</a:t>
            </a:r>
            <a:endParaRPr lang="en-US" sz="1300" dirty="0"/>
          </a:p>
        </p:txBody>
      </p:sp>
      <p:sp>
        <p:nvSpPr>
          <p:cNvPr id="9" name="Text 7"/>
          <p:cNvSpPr/>
          <p:nvPr/>
        </p:nvSpPr>
        <p:spPr>
          <a:xfrm>
            <a:off x="4297680" y="2624328"/>
            <a:ext cx="6675120" cy="548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Laminated physical QR Identity Cards (Carnet de Productor) or SMS/WhatsApp OTPs. Zero English seed phrases to memorize or lose.</a:t>
            </a:r>
            <a:endParaRPr lang="en-US" sz="1100" dirty="0"/>
          </a:p>
        </p:txBody>
      </p:sp>
      <p:sp>
        <p:nvSpPr>
          <p:cNvPr id="10" name="Shape 8"/>
          <p:cNvSpPr/>
          <p:nvPr/>
        </p:nvSpPr>
        <p:spPr>
          <a:xfrm>
            <a:off x="731520" y="3383280"/>
            <a:ext cx="10515600" cy="777240"/>
          </a:xfrm>
          <a:prstGeom prst="roundRect">
            <a:avLst/>
          </a:prstGeom>
          <a:solidFill>
            <a:srgbClr val="FFFFFF"/>
          </a:solidFill>
          <a:ln w="12700">
            <a:solidFill>
              <a:srgbClr val="E5E7EB"/>
            </a:solidFill>
            <a:prstDash val="solid"/>
          </a:ln>
        </p:spPr>
      </p:sp>
      <p:sp>
        <p:nvSpPr>
          <p:cNvPr id="11" name="Text 9"/>
          <p:cNvSpPr/>
          <p:nvPr/>
        </p:nvSpPr>
        <p:spPr>
          <a:xfrm>
            <a:off x="1005840" y="3520440"/>
            <a:ext cx="3200400" cy="50292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Etherfuse Banxico SPEI Rail</a:t>
            </a:r>
            <a:endParaRPr lang="en-US" sz="1300" dirty="0"/>
          </a:p>
        </p:txBody>
      </p:sp>
      <p:sp>
        <p:nvSpPr>
          <p:cNvPr id="12" name="Text 10"/>
          <p:cNvSpPr/>
          <p:nvPr/>
        </p:nvSpPr>
        <p:spPr>
          <a:xfrm>
            <a:off x="4297680" y="3493008"/>
            <a:ext cx="6675120" cy="548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International buyer USDC is routed through Stellar Path Payments to MXNe and deposited via SPEI into government Banco del Bienestar debit cards.</a:t>
            </a:r>
            <a:endParaRPr lang="en-US" sz="1100" dirty="0"/>
          </a:p>
        </p:txBody>
      </p:sp>
      <p:sp>
        <p:nvSpPr>
          <p:cNvPr id="13" name="Shape 11"/>
          <p:cNvSpPr/>
          <p:nvPr/>
        </p:nvSpPr>
        <p:spPr>
          <a:xfrm>
            <a:off x="731520" y="4251960"/>
            <a:ext cx="10515600" cy="777240"/>
          </a:xfrm>
          <a:prstGeom prst="roundRect">
            <a:avLst/>
          </a:prstGeom>
          <a:solidFill>
            <a:srgbClr val="FFFFFF"/>
          </a:solidFill>
          <a:ln w="12700">
            <a:solidFill>
              <a:srgbClr val="E5E7EB"/>
            </a:solidFill>
            <a:prstDash val="solid"/>
          </a:ln>
        </p:spPr>
      </p:sp>
      <p:sp>
        <p:nvSpPr>
          <p:cNvPr id="14" name="Text 12"/>
          <p:cNvSpPr/>
          <p:nvPr/>
        </p:nvSpPr>
        <p:spPr>
          <a:xfrm>
            <a:off x="1005840" y="4389120"/>
            <a:ext cx="3200400" cy="50292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MicoPay Mobile Cash Rail</a:t>
            </a:r>
            <a:endParaRPr lang="en-US" sz="1300" dirty="0"/>
          </a:p>
        </p:txBody>
      </p:sp>
      <p:sp>
        <p:nvSpPr>
          <p:cNvPr id="15" name="Text 13"/>
          <p:cNvSpPr/>
          <p:nvPr/>
        </p:nvSpPr>
        <p:spPr>
          <a:xfrm>
            <a:off x="4297680" y="4361688"/>
            <a:ext cx="6675120" cy="548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Trusted local carriers and cooperative merchants act as cash disbursement nodes, delivering physical pesos in mountain hamlets upon QR scan.</a:t>
            </a:r>
            <a:endParaRPr lang="en-US" sz="1100" dirty="0"/>
          </a:p>
        </p:txBody>
      </p:sp>
      <p:sp>
        <p:nvSpPr>
          <p:cNvPr id="16" name="Shape 14"/>
          <p:cNvSpPr/>
          <p:nvPr/>
        </p:nvSpPr>
        <p:spPr>
          <a:xfrm>
            <a:off x="731520" y="5120640"/>
            <a:ext cx="10515600" cy="777240"/>
          </a:xfrm>
          <a:prstGeom prst="roundRect">
            <a:avLst/>
          </a:prstGeom>
          <a:solidFill>
            <a:srgbClr val="FFFFFF"/>
          </a:solidFill>
          <a:ln w="12700">
            <a:solidFill>
              <a:srgbClr val="E5E7EB"/>
            </a:solidFill>
            <a:prstDash val="solid"/>
          </a:ln>
        </p:spPr>
      </p:sp>
      <p:sp>
        <p:nvSpPr>
          <p:cNvPr id="17" name="Text 15"/>
          <p:cNvSpPr/>
          <p:nvPr/>
        </p:nvSpPr>
        <p:spPr>
          <a:xfrm>
            <a:off x="1005840" y="5257800"/>
            <a:ext cx="3200400" cy="50292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Fee-Bump Relayer (CAP-0015)</a:t>
            </a:r>
            <a:endParaRPr lang="en-US" sz="1300" dirty="0"/>
          </a:p>
        </p:txBody>
      </p:sp>
      <p:sp>
        <p:nvSpPr>
          <p:cNvPr id="18" name="Text 16"/>
          <p:cNvSpPr/>
          <p:nvPr/>
        </p:nvSpPr>
        <p:spPr>
          <a:xfrm>
            <a:off x="4297680" y="5230368"/>
            <a:ext cx="6675120" cy="548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The Raíz relayer engine sponsors 100% of network transaction fees. Rural producers never purchase, hold, or calculate gas in XLM.</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BUSINESS MODEL &amp; MARKET VALIDATION (TECH REBEL B2B2C)</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Monetizing Institutional Demand While Protecting Primary Producers</a:t>
            </a:r>
            <a:endParaRPr lang="en-US" sz="1400" dirty="0"/>
          </a:p>
        </p:txBody>
      </p:sp>
      <p:sp>
        <p:nvSpPr>
          <p:cNvPr id="4" name="Shape 2"/>
          <p:cNvSpPr/>
          <p:nvPr/>
        </p:nvSpPr>
        <p:spPr>
          <a:xfrm>
            <a:off x="731520" y="1645920"/>
            <a:ext cx="3291840" cy="4389120"/>
          </a:xfrm>
          <a:prstGeom prst="roundRect">
            <a:avLst/>
          </a:prstGeom>
          <a:solidFill>
            <a:srgbClr val="FFFFFF"/>
          </a:solidFill>
          <a:ln w="12700">
            <a:solidFill>
              <a:srgbClr val="E5E7EB"/>
            </a:solidFill>
            <a:prstDash val="solid"/>
          </a:ln>
        </p:spPr>
      </p:sp>
      <p:sp>
        <p:nvSpPr>
          <p:cNvPr id="5" name="Text 3"/>
          <p:cNvSpPr/>
          <p:nvPr/>
        </p:nvSpPr>
        <p:spPr>
          <a:xfrm>
            <a:off x="1005840" y="1920240"/>
            <a:ext cx="2743200" cy="22860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SUPPLY MOAT</a:t>
            </a:r>
            <a:endParaRPr lang="en-US" sz="1000" dirty="0"/>
          </a:p>
        </p:txBody>
      </p:sp>
      <p:sp>
        <p:nvSpPr>
          <p:cNvPr id="6" name="Text 4"/>
          <p:cNvSpPr/>
          <p:nvPr/>
        </p:nvSpPr>
        <p:spPr>
          <a:xfrm>
            <a:off x="1005840" y="2148840"/>
            <a:ext cx="2743200" cy="36576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Indigenous Producers</a:t>
            </a:r>
            <a:endParaRPr lang="en-US" sz="1300" dirty="0"/>
          </a:p>
        </p:txBody>
      </p:sp>
      <p:sp>
        <p:nvSpPr>
          <p:cNvPr id="7" name="Shape 5"/>
          <p:cNvSpPr/>
          <p:nvPr/>
        </p:nvSpPr>
        <p:spPr>
          <a:xfrm>
            <a:off x="1005840" y="2560320"/>
            <a:ext cx="2743200" cy="320040"/>
          </a:xfrm>
          <a:prstGeom prst="roundRect">
            <a:avLst/>
          </a:prstGeom>
          <a:solidFill>
            <a:srgbClr val="F3F4F6"/>
          </a:solidFill>
          <a:ln w="12700">
            <a:solidFill>
              <a:srgbClr val="D1D5DB"/>
            </a:solidFill>
            <a:prstDash val="solid"/>
          </a:ln>
        </p:spPr>
      </p:sp>
      <p:sp>
        <p:nvSpPr>
          <p:cNvPr id="8" name="Text 6"/>
          <p:cNvSpPr/>
          <p:nvPr/>
        </p:nvSpPr>
        <p:spPr>
          <a:xfrm>
            <a:off x="1005840" y="2560320"/>
            <a:ext cx="2743200" cy="320040"/>
          </a:xfrm>
          <a:prstGeom prst="rect">
            <a:avLst/>
          </a:prstGeom>
          <a:noFill/>
          <a:ln/>
        </p:spPr>
        <p:txBody>
          <a:bodyPr wrap="square" rtlCol="0" anchor="ctr"/>
          <a:lstStyle/>
          <a:p>
            <a:pPr algn="ctr" indent="0" marL="0">
              <a:buNone/>
            </a:pPr>
            <a:r>
              <a:rPr lang="en-US" sz="1100" b="1" dirty="0">
                <a:solidFill>
                  <a:srgbClr val="032517"/>
                </a:solidFill>
                <a:latin typeface="Arial" pitchFamily="34" charset="0"/>
                <a:ea typeface="Arial" pitchFamily="34" charset="-122"/>
                <a:cs typeface="Arial" pitchFamily="34" charset="-120"/>
              </a:rPr>
              <a:t>0% Platform Fee</a:t>
            </a:r>
            <a:endParaRPr lang="en-US" sz="1100" dirty="0"/>
          </a:p>
        </p:txBody>
      </p:sp>
      <p:sp>
        <p:nvSpPr>
          <p:cNvPr id="9" name="Text 7"/>
          <p:cNvSpPr/>
          <p:nvPr/>
        </p:nvSpPr>
        <p:spPr>
          <a:xfrm>
            <a:off x="1005840" y="2971800"/>
            <a:ext cx="2743200" cy="2834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 50+ pilot producers in Oaxaca.</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Retain 98% of direct wholesale price.</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Guaranteed 10% perpetual secondary resale royalty.</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2% allocated to community Tequio public works.</a:t>
            </a:r>
            <a:endParaRPr lang="en-US" sz="1100" dirty="0"/>
          </a:p>
        </p:txBody>
      </p:sp>
      <p:sp>
        <p:nvSpPr>
          <p:cNvPr id="10" name="Shape 8"/>
          <p:cNvSpPr/>
          <p:nvPr/>
        </p:nvSpPr>
        <p:spPr>
          <a:xfrm>
            <a:off x="4343400" y="1645920"/>
            <a:ext cx="3291840" cy="4389120"/>
          </a:xfrm>
          <a:prstGeom prst="roundRect">
            <a:avLst/>
          </a:prstGeom>
          <a:solidFill>
            <a:srgbClr val="FFFFFF"/>
          </a:solidFill>
          <a:ln w="12700">
            <a:solidFill>
              <a:srgbClr val="E5E7EB"/>
            </a:solidFill>
            <a:prstDash val="solid"/>
          </a:ln>
        </p:spPr>
      </p:sp>
      <p:sp>
        <p:nvSpPr>
          <p:cNvPr id="11" name="Text 9"/>
          <p:cNvSpPr/>
          <p:nvPr/>
        </p:nvSpPr>
        <p:spPr>
          <a:xfrm>
            <a:off x="4617720" y="1920240"/>
            <a:ext cx="2743200" cy="22860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PAYING B2B CLIENTS</a:t>
            </a:r>
            <a:endParaRPr lang="en-US" sz="1000" dirty="0"/>
          </a:p>
        </p:txBody>
      </p:sp>
      <p:sp>
        <p:nvSpPr>
          <p:cNvPr id="12" name="Text 10"/>
          <p:cNvSpPr/>
          <p:nvPr/>
        </p:nvSpPr>
        <p:spPr>
          <a:xfrm>
            <a:off x="4617720" y="2148840"/>
            <a:ext cx="2743200" cy="36576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Institutional Buyers (SMBs)</a:t>
            </a:r>
            <a:endParaRPr lang="en-US" sz="1300" dirty="0"/>
          </a:p>
        </p:txBody>
      </p:sp>
      <p:sp>
        <p:nvSpPr>
          <p:cNvPr id="13" name="Shape 11"/>
          <p:cNvSpPr/>
          <p:nvPr/>
        </p:nvSpPr>
        <p:spPr>
          <a:xfrm>
            <a:off x="4617720" y="2560320"/>
            <a:ext cx="2743200" cy="320040"/>
          </a:xfrm>
          <a:prstGeom prst="roundRect">
            <a:avLst/>
          </a:prstGeom>
          <a:solidFill>
            <a:srgbClr val="F3F4F6"/>
          </a:solidFill>
          <a:ln w="12700">
            <a:solidFill>
              <a:srgbClr val="D1D5DB"/>
            </a:solidFill>
            <a:prstDash val="solid"/>
          </a:ln>
        </p:spPr>
      </p:sp>
      <p:sp>
        <p:nvSpPr>
          <p:cNvPr id="14" name="Text 12"/>
          <p:cNvSpPr/>
          <p:nvPr/>
        </p:nvSpPr>
        <p:spPr>
          <a:xfrm>
            <a:off x="4617720" y="2560320"/>
            <a:ext cx="2743200" cy="320040"/>
          </a:xfrm>
          <a:prstGeom prst="rect">
            <a:avLst/>
          </a:prstGeom>
          <a:noFill/>
          <a:ln/>
        </p:spPr>
        <p:txBody>
          <a:bodyPr wrap="square" rtlCol="0" anchor="ctr"/>
          <a:lstStyle/>
          <a:p>
            <a:pPr algn="ctr" indent="0" marL="0">
              <a:buNone/>
            </a:pPr>
            <a:r>
              <a:rPr lang="en-US" sz="1100" b="1" dirty="0">
                <a:solidFill>
                  <a:srgbClr val="032517"/>
                </a:solidFill>
                <a:latin typeface="Arial" pitchFamily="34" charset="0"/>
                <a:ea typeface="Arial" pitchFamily="34" charset="-122"/>
                <a:cs typeface="Arial" pitchFamily="34" charset="-120"/>
              </a:rPr>
              <a:t>1.5% - 2.5% Compliance Fee</a:t>
            </a:r>
            <a:endParaRPr lang="en-US" sz="1100" dirty="0"/>
          </a:p>
        </p:txBody>
      </p:sp>
      <p:sp>
        <p:nvSpPr>
          <p:cNvPr id="15" name="Text 13"/>
          <p:cNvSpPr/>
          <p:nvPr/>
        </p:nvSpPr>
        <p:spPr>
          <a:xfrm>
            <a:off x="4617720" y="2971800"/>
            <a:ext cx="2743200" cy="2834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 Specialty coffee micro-roasters in EU/US.</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Ethical fashion boutiques &amp; luxury galleries.</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Urgent need for EUDR zero-deforestation compliance (fines up to 4% EU turnover).</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Immunity against cultural appropriation lawsuits.</a:t>
            </a:r>
            <a:endParaRPr lang="en-US" sz="1100" dirty="0"/>
          </a:p>
        </p:txBody>
      </p:sp>
      <p:sp>
        <p:nvSpPr>
          <p:cNvPr id="16" name="Shape 14"/>
          <p:cNvSpPr/>
          <p:nvPr/>
        </p:nvSpPr>
        <p:spPr>
          <a:xfrm>
            <a:off x="7955280" y="1645920"/>
            <a:ext cx="3291840" cy="4389120"/>
          </a:xfrm>
          <a:prstGeom prst="roundRect">
            <a:avLst/>
          </a:prstGeom>
          <a:solidFill>
            <a:srgbClr val="FFFFFF"/>
          </a:solidFill>
          <a:ln w="12700">
            <a:solidFill>
              <a:srgbClr val="E5E7EB"/>
            </a:solidFill>
            <a:prstDash val="solid"/>
          </a:ln>
        </p:spPr>
      </p:sp>
      <p:sp>
        <p:nvSpPr>
          <p:cNvPr id="17" name="Text 15"/>
          <p:cNvSpPr/>
          <p:nvPr/>
        </p:nvSpPr>
        <p:spPr>
          <a:xfrm>
            <a:off x="8229600" y="1920240"/>
            <a:ext cx="2743200" cy="228600"/>
          </a:xfrm>
          <a:prstGeom prst="rect">
            <a:avLst/>
          </a:prstGeom>
          <a:noFill/>
          <a:ln/>
        </p:spPr>
        <p:txBody>
          <a:bodyPr wrap="square" rtlCol="0" anchor="ctr"/>
          <a:lstStyle/>
          <a:p>
            <a:pPr indent="0" marL="0">
              <a:buNone/>
            </a:pPr>
            <a:r>
              <a:rPr lang="en-US" sz="1000" b="1" dirty="0">
                <a:solidFill>
                  <a:srgbClr val="D97706"/>
                </a:solidFill>
                <a:latin typeface="Arial" pitchFamily="34" charset="0"/>
                <a:ea typeface="Arial" pitchFamily="34" charset="-122"/>
                <a:cs typeface="Arial" pitchFamily="34" charset="-120"/>
              </a:rPr>
              <a:t>END CONSUMER</a:t>
            </a:r>
            <a:endParaRPr lang="en-US" sz="1000" dirty="0"/>
          </a:p>
        </p:txBody>
      </p:sp>
      <p:sp>
        <p:nvSpPr>
          <p:cNvPr id="18" name="Text 16"/>
          <p:cNvSpPr/>
          <p:nvPr/>
        </p:nvSpPr>
        <p:spPr>
          <a:xfrm>
            <a:off x="8229600" y="2148840"/>
            <a:ext cx="2743200" cy="36576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Conscious Verifiers</a:t>
            </a:r>
            <a:endParaRPr lang="en-US" sz="1300" dirty="0"/>
          </a:p>
        </p:txBody>
      </p:sp>
      <p:sp>
        <p:nvSpPr>
          <p:cNvPr id="19" name="Shape 17"/>
          <p:cNvSpPr/>
          <p:nvPr/>
        </p:nvSpPr>
        <p:spPr>
          <a:xfrm>
            <a:off x="8229600" y="2560320"/>
            <a:ext cx="2743200" cy="320040"/>
          </a:xfrm>
          <a:prstGeom prst="roundRect">
            <a:avLst/>
          </a:prstGeom>
          <a:solidFill>
            <a:srgbClr val="F3F4F6"/>
          </a:solidFill>
          <a:ln w="12700">
            <a:solidFill>
              <a:srgbClr val="D1D5DB"/>
            </a:solidFill>
            <a:prstDash val="solid"/>
          </a:ln>
        </p:spPr>
      </p:sp>
      <p:sp>
        <p:nvSpPr>
          <p:cNvPr id="20" name="Text 18"/>
          <p:cNvSpPr/>
          <p:nvPr/>
        </p:nvSpPr>
        <p:spPr>
          <a:xfrm>
            <a:off x="8229600" y="2560320"/>
            <a:ext cx="2743200" cy="320040"/>
          </a:xfrm>
          <a:prstGeom prst="rect">
            <a:avLst/>
          </a:prstGeom>
          <a:noFill/>
          <a:ln/>
        </p:spPr>
        <p:txBody>
          <a:bodyPr wrap="square" rtlCol="0" anchor="ctr"/>
          <a:lstStyle/>
          <a:p>
            <a:pPr algn="ctr" indent="0" marL="0">
              <a:buNone/>
            </a:pPr>
            <a:r>
              <a:rPr lang="en-US" sz="1100" b="1" dirty="0">
                <a:solidFill>
                  <a:srgbClr val="032517"/>
                </a:solidFill>
                <a:latin typeface="Arial" pitchFamily="34" charset="0"/>
                <a:ea typeface="Arial" pitchFamily="34" charset="-122"/>
                <a:cs typeface="Arial" pitchFamily="34" charset="-120"/>
              </a:rPr>
              <a:t>Direct Retail Premium</a:t>
            </a:r>
            <a:endParaRPr lang="en-US" sz="1100" dirty="0"/>
          </a:p>
        </p:txBody>
      </p:sp>
      <p:sp>
        <p:nvSpPr>
          <p:cNvPr id="21" name="Text 19"/>
          <p:cNvSpPr/>
          <p:nvPr/>
        </p:nvSpPr>
        <p:spPr>
          <a:xfrm>
            <a:off x="8229600" y="2971800"/>
            <a:ext cx="2743200" cy="283464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 High-net-worth conscious consumers in Lisbon, Zurich, NYC, CDMX.</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Willing to pay 30%-50% premium for verified ethical heritage.</a:t>
            </a:r>
            <a:endParaRPr lang="en-US" sz="1100" dirty="0"/>
          </a:p>
          <a:p>
            <a:pPr indent="0" marL="0">
              <a:lnSpc>
                <a:spcPts val="1500"/>
              </a:lnSpc>
              <a:buNone/>
            </a:pPr>
            <a:endParaRPr lang="en-US" sz="1100" dirty="0"/>
          </a:p>
          <a:p>
            <a:pPr indent="0" marL="0">
              <a:lnSpc>
                <a:spcPts val="1500"/>
              </a:lnSpc>
              <a:buNone/>
            </a:pPr>
            <a:r>
              <a:rPr lang="en-US" sz="1100" dirty="0">
                <a:solidFill>
                  <a:srgbClr val="1C2421"/>
                </a:solidFill>
                <a:latin typeface="Arial" pitchFamily="34" charset="0"/>
                <a:ea typeface="Arial" pitchFamily="34" charset="-122"/>
                <a:cs typeface="Arial" pitchFamily="34" charset="-120"/>
              </a:rPr>
              <a:t>• Scan QR hang-tag for proof of origin.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PRODUCTION TRACTION: CODE, TESTS &amp; ACADEMIC BACKING</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Engineered by Open Hub TecNM: Mexico’s National Technological Engine</a:t>
            </a:r>
            <a:endParaRPr lang="en-US" sz="1400" dirty="0"/>
          </a:p>
        </p:txBody>
      </p:sp>
      <p:sp>
        <p:nvSpPr>
          <p:cNvPr id="4" name="Shape 2"/>
          <p:cNvSpPr/>
          <p:nvPr/>
        </p:nvSpPr>
        <p:spPr>
          <a:xfrm>
            <a:off x="731520" y="1645920"/>
            <a:ext cx="5120640" cy="2057400"/>
          </a:xfrm>
          <a:prstGeom prst="roundRect">
            <a:avLst/>
          </a:prstGeom>
          <a:solidFill>
            <a:srgbClr val="FFFFFF"/>
          </a:solidFill>
          <a:ln w="12700">
            <a:solidFill>
              <a:srgbClr val="E5E7EB"/>
            </a:solidFill>
            <a:prstDash val="solid"/>
          </a:ln>
        </p:spPr>
      </p:sp>
      <p:sp>
        <p:nvSpPr>
          <p:cNvPr id="5" name="Text 3"/>
          <p:cNvSpPr/>
          <p:nvPr/>
        </p:nvSpPr>
        <p:spPr>
          <a:xfrm>
            <a:off x="1005840" y="1828800"/>
            <a:ext cx="4572000" cy="457200"/>
          </a:xfrm>
          <a:prstGeom prst="rect">
            <a:avLst/>
          </a:prstGeom>
          <a:noFill/>
          <a:ln/>
        </p:spPr>
        <p:txBody>
          <a:bodyPr wrap="square" rtlCol="0" anchor="ctr"/>
          <a:lstStyle/>
          <a:p>
            <a:pPr indent="0" marL="0">
              <a:buNone/>
            </a:pPr>
            <a:r>
              <a:rPr lang="en-US" sz="2600" b="1" dirty="0">
                <a:solidFill>
                  <a:srgbClr val="15803D"/>
                </a:solidFill>
                <a:latin typeface="Arial" pitchFamily="34" charset="0"/>
                <a:ea typeface="Arial" pitchFamily="34" charset="-122"/>
                <a:cs typeface="Arial" pitchFamily="34" charset="-120"/>
              </a:rPr>
              <a:t>52 / 52</a:t>
            </a:r>
            <a:endParaRPr lang="en-US" sz="2600" dirty="0"/>
          </a:p>
        </p:txBody>
      </p:sp>
      <p:sp>
        <p:nvSpPr>
          <p:cNvPr id="6" name="Text 4"/>
          <p:cNvSpPr/>
          <p:nvPr/>
        </p:nvSpPr>
        <p:spPr>
          <a:xfrm>
            <a:off x="1005840" y="2331720"/>
            <a:ext cx="45720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Automated CI Tests Passing</a:t>
            </a:r>
            <a:endParaRPr lang="en-US" sz="1300" dirty="0"/>
          </a:p>
        </p:txBody>
      </p:sp>
      <p:sp>
        <p:nvSpPr>
          <p:cNvPr id="7" name="Text 5"/>
          <p:cNvSpPr/>
          <p:nvPr/>
        </p:nvSpPr>
        <p:spPr>
          <a:xfrm>
            <a:off x="1005840" y="2697480"/>
            <a:ext cx="4572000" cy="86868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End-to-end tests across cryptography, Soroban contracts, and payment oracles (0 failures).</a:t>
            </a:r>
            <a:endParaRPr lang="en-US" sz="1100" dirty="0"/>
          </a:p>
        </p:txBody>
      </p:sp>
      <p:sp>
        <p:nvSpPr>
          <p:cNvPr id="8" name="Shape 6"/>
          <p:cNvSpPr/>
          <p:nvPr/>
        </p:nvSpPr>
        <p:spPr>
          <a:xfrm>
            <a:off x="6126480" y="1645920"/>
            <a:ext cx="5120640" cy="2057400"/>
          </a:xfrm>
          <a:prstGeom prst="roundRect">
            <a:avLst/>
          </a:prstGeom>
          <a:solidFill>
            <a:srgbClr val="FFFFFF"/>
          </a:solidFill>
          <a:ln w="12700">
            <a:solidFill>
              <a:srgbClr val="E5E7EB"/>
            </a:solidFill>
            <a:prstDash val="solid"/>
          </a:ln>
        </p:spPr>
      </p:sp>
      <p:sp>
        <p:nvSpPr>
          <p:cNvPr id="9" name="Text 7"/>
          <p:cNvSpPr/>
          <p:nvPr/>
        </p:nvSpPr>
        <p:spPr>
          <a:xfrm>
            <a:off x="6400800" y="1828800"/>
            <a:ext cx="4572000" cy="457200"/>
          </a:xfrm>
          <a:prstGeom prst="rect">
            <a:avLst/>
          </a:prstGeom>
          <a:noFill/>
          <a:ln/>
        </p:spPr>
        <p:txBody>
          <a:bodyPr wrap="square" rtlCol="0" anchor="ctr"/>
          <a:lstStyle/>
          <a:p>
            <a:pPr indent="0" marL="0">
              <a:buNone/>
            </a:pPr>
            <a:r>
              <a:rPr lang="en-US" sz="2600" b="1" dirty="0">
                <a:solidFill>
                  <a:srgbClr val="15803D"/>
                </a:solidFill>
                <a:latin typeface="Arial" pitchFamily="34" charset="0"/>
                <a:ea typeface="Arial" pitchFamily="34" charset="-122"/>
                <a:cs typeface="Arial" pitchFamily="34" charset="-120"/>
              </a:rPr>
              <a:t>Protocol 22</a:t>
            </a:r>
            <a:endParaRPr lang="en-US" sz="2600" dirty="0"/>
          </a:p>
        </p:txBody>
      </p:sp>
      <p:sp>
        <p:nvSpPr>
          <p:cNvPr id="10" name="Text 8"/>
          <p:cNvSpPr/>
          <p:nvPr/>
        </p:nvSpPr>
        <p:spPr>
          <a:xfrm>
            <a:off x="6400800" y="2331720"/>
            <a:ext cx="45720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Soroban SDK Compliance</a:t>
            </a:r>
            <a:endParaRPr lang="en-US" sz="1300" dirty="0"/>
          </a:p>
        </p:txBody>
      </p:sp>
      <p:sp>
        <p:nvSpPr>
          <p:cNvPr id="11" name="Text 9"/>
          <p:cNvSpPr/>
          <p:nvPr/>
        </p:nvSpPr>
        <p:spPr>
          <a:xfrm>
            <a:off x="6400800" y="2697480"/>
            <a:ext cx="4572000" cy="86868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3 modular Rust contracts compiled for Stellar Protocol 22 with state rent TTL management.</a:t>
            </a:r>
            <a:endParaRPr lang="en-US" sz="1100" dirty="0"/>
          </a:p>
        </p:txBody>
      </p:sp>
      <p:sp>
        <p:nvSpPr>
          <p:cNvPr id="12" name="Shape 10"/>
          <p:cNvSpPr/>
          <p:nvPr/>
        </p:nvSpPr>
        <p:spPr>
          <a:xfrm>
            <a:off x="731520" y="3886200"/>
            <a:ext cx="5120640" cy="2057400"/>
          </a:xfrm>
          <a:prstGeom prst="roundRect">
            <a:avLst/>
          </a:prstGeom>
          <a:solidFill>
            <a:srgbClr val="FFFFFF"/>
          </a:solidFill>
          <a:ln w="12700">
            <a:solidFill>
              <a:srgbClr val="E5E7EB"/>
            </a:solidFill>
            <a:prstDash val="solid"/>
          </a:ln>
        </p:spPr>
      </p:sp>
      <p:sp>
        <p:nvSpPr>
          <p:cNvPr id="13" name="Text 11"/>
          <p:cNvSpPr/>
          <p:nvPr/>
        </p:nvSpPr>
        <p:spPr>
          <a:xfrm>
            <a:off x="1005840" y="4069080"/>
            <a:ext cx="4572000" cy="457200"/>
          </a:xfrm>
          <a:prstGeom prst="rect">
            <a:avLst/>
          </a:prstGeom>
          <a:noFill/>
          <a:ln/>
        </p:spPr>
        <p:txBody>
          <a:bodyPr wrap="square" rtlCol="0" anchor="ctr"/>
          <a:lstStyle/>
          <a:p>
            <a:pPr indent="0" marL="0">
              <a:buNone/>
            </a:pPr>
            <a:r>
              <a:rPr lang="en-US" sz="2600" b="1" dirty="0">
                <a:solidFill>
                  <a:srgbClr val="15803D"/>
                </a:solidFill>
                <a:latin typeface="Arial" pitchFamily="34" charset="0"/>
                <a:ea typeface="Arial" pitchFamily="34" charset="-122"/>
                <a:cs typeface="Arial" pitchFamily="34" charset="-120"/>
              </a:rPr>
              <a:t>100% MIT</a:t>
            </a:r>
            <a:endParaRPr lang="en-US" sz="2600" dirty="0"/>
          </a:p>
        </p:txBody>
      </p:sp>
      <p:sp>
        <p:nvSpPr>
          <p:cNvPr id="14" name="Text 12"/>
          <p:cNvSpPr/>
          <p:nvPr/>
        </p:nvSpPr>
        <p:spPr>
          <a:xfrm>
            <a:off x="1005840" y="4572000"/>
            <a:ext cx="45720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Open-Source Public Good</a:t>
            </a:r>
            <a:endParaRPr lang="en-US" sz="1300" dirty="0"/>
          </a:p>
        </p:txBody>
      </p:sp>
      <p:sp>
        <p:nvSpPr>
          <p:cNvPr id="15" name="Text 13"/>
          <p:cNvSpPr/>
          <p:nvPr/>
        </p:nvSpPr>
        <p:spPr>
          <a:xfrm>
            <a:off x="1005840" y="4937760"/>
            <a:ext cx="4572000" cy="86868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Active public repo at github.com/Open-Hub-Tec/raiz with daily commits from engineering residents.</a:t>
            </a:r>
            <a:endParaRPr lang="en-US" sz="1100" dirty="0"/>
          </a:p>
        </p:txBody>
      </p:sp>
      <p:sp>
        <p:nvSpPr>
          <p:cNvPr id="16" name="Shape 14"/>
          <p:cNvSpPr/>
          <p:nvPr/>
        </p:nvSpPr>
        <p:spPr>
          <a:xfrm>
            <a:off x="6126480" y="3886200"/>
            <a:ext cx="5120640" cy="2057400"/>
          </a:xfrm>
          <a:prstGeom prst="roundRect">
            <a:avLst/>
          </a:prstGeom>
          <a:solidFill>
            <a:srgbClr val="FFFFFF"/>
          </a:solidFill>
          <a:ln w="12700">
            <a:solidFill>
              <a:srgbClr val="E5E7EB"/>
            </a:solidFill>
            <a:prstDash val="solid"/>
          </a:ln>
        </p:spPr>
      </p:sp>
      <p:sp>
        <p:nvSpPr>
          <p:cNvPr id="17" name="Text 15"/>
          <p:cNvSpPr/>
          <p:nvPr/>
        </p:nvSpPr>
        <p:spPr>
          <a:xfrm>
            <a:off x="6400800" y="4069080"/>
            <a:ext cx="4572000" cy="457200"/>
          </a:xfrm>
          <a:prstGeom prst="rect">
            <a:avLst/>
          </a:prstGeom>
          <a:noFill/>
          <a:ln/>
        </p:spPr>
        <p:txBody>
          <a:bodyPr wrap="square" rtlCol="0" anchor="ctr"/>
          <a:lstStyle/>
          <a:p>
            <a:pPr indent="0" marL="0">
              <a:buNone/>
            </a:pPr>
            <a:r>
              <a:rPr lang="en-US" sz="2600" b="1" dirty="0">
                <a:solidFill>
                  <a:srgbClr val="15803D"/>
                </a:solidFill>
                <a:latin typeface="Arial" pitchFamily="34" charset="0"/>
                <a:ea typeface="Arial" pitchFamily="34" charset="-122"/>
                <a:cs typeface="Arial" pitchFamily="34" charset="-120"/>
              </a:rPr>
              <a:t>600k+</a:t>
            </a:r>
            <a:endParaRPr lang="en-US" sz="2600" dirty="0"/>
          </a:p>
        </p:txBody>
      </p:sp>
      <p:sp>
        <p:nvSpPr>
          <p:cNvPr id="18" name="Text 16"/>
          <p:cNvSpPr/>
          <p:nvPr/>
        </p:nvSpPr>
        <p:spPr>
          <a:xfrm>
            <a:off x="6400800" y="4572000"/>
            <a:ext cx="4572000" cy="320040"/>
          </a:xfrm>
          <a:prstGeom prst="rect">
            <a:avLst/>
          </a:prstGeom>
          <a:noFill/>
          <a:ln/>
        </p:spPr>
        <p:txBody>
          <a:bodyPr wrap="square" rtlCol="0" anchor="ctr"/>
          <a:lstStyle/>
          <a:p>
            <a:pPr indent="0" marL="0">
              <a:buNone/>
            </a:pPr>
            <a:r>
              <a:rPr lang="en-US" sz="1300" b="1" dirty="0">
                <a:solidFill>
                  <a:srgbClr val="032517"/>
                </a:solidFill>
                <a:latin typeface="Arial" pitchFamily="34" charset="0"/>
                <a:ea typeface="Arial" pitchFamily="34" charset="-122"/>
                <a:cs typeface="Arial" pitchFamily="34" charset="-120"/>
              </a:rPr>
              <a:t>TecNM National Network</a:t>
            </a:r>
            <a:endParaRPr lang="en-US" sz="1300" dirty="0"/>
          </a:p>
        </p:txBody>
      </p:sp>
      <p:sp>
        <p:nvSpPr>
          <p:cNvPr id="19" name="Text 17"/>
          <p:cNvSpPr/>
          <p:nvPr/>
        </p:nvSpPr>
        <p:spPr>
          <a:xfrm>
            <a:off x="6400800" y="4937760"/>
            <a:ext cx="4572000" cy="868680"/>
          </a:xfrm>
          <a:prstGeom prst="rect">
            <a:avLst/>
          </a:prstGeom>
          <a:noFill/>
          <a:ln/>
        </p:spPr>
        <p:txBody>
          <a:bodyPr wrap="square" rtlCol="0" anchor="ctr"/>
          <a:lstStyle/>
          <a:p>
            <a:pPr indent="0" marL="0">
              <a:lnSpc>
                <a:spcPts val="1500"/>
              </a:lnSpc>
              <a:buNone/>
            </a:pPr>
            <a:r>
              <a:rPr lang="en-US" sz="1100" dirty="0">
                <a:solidFill>
                  <a:srgbClr val="1C2421"/>
                </a:solidFill>
                <a:latin typeface="Arial" pitchFamily="34" charset="0"/>
                <a:ea typeface="Arial" pitchFamily="34" charset="-122"/>
                <a:cs typeface="Arial" pitchFamily="34" charset="-120"/>
              </a:rPr>
              <a:t>Latin America’s largest public engineering system, training a permanent pipeline of Stellar builders.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3"/>
        </a:solidFill>
      </p:bgPr>
    </p:bg>
    <p:spTree>
      <p:nvGrpSpPr>
        <p:cNvPr id="1" name=""/>
        <p:cNvGrpSpPr/>
        <p:nvPr/>
      </p:nvGrpSpPr>
      <p:grpSpPr>
        <a:xfrm>
          <a:off x="0" y="0"/>
          <a:ext cx="0" cy="0"/>
          <a:chOff x="0" y="0"/>
          <a:chExt cx="0" cy="0"/>
        </a:xfrm>
      </p:grpSpPr>
      <p:sp>
        <p:nvSpPr>
          <p:cNvPr id="2" name="Text 0"/>
          <p:cNvSpPr/>
          <p:nvPr/>
        </p:nvSpPr>
        <p:spPr>
          <a:xfrm>
            <a:off x="731520" y="548640"/>
            <a:ext cx="10515600" cy="502920"/>
          </a:xfrm>
          <a:prstGeom prst="rect">
            <a:avLst/>
          </a:prstGeom>
          <a:noFill/>
          <a:ln/>
        </p:spPr>
        <p:txBody>
          <a:bodyPr wrap="square" rtlCol="0" anchor="ctr"/>
          <a:lstStyle/>
          <a:p>
            <a:pPr indent="0" marL="0">
              <a:buNone/>
            </a:pPr>
            <a:r>
              <a:rPr lang="en-US" sz="2400" b="1" dirty="0">
                <a:solidFill>
                  <a:srgbClr val="032517"/>
                </a:solidFill>
                <a:latin typeface="Arial" pitchFamily="34" charset="0"/>
                <a:ea typeface="Arial" pitchFamily="34" charset="-122"/>
                <a:cs typeface="Arial" pitchFamily="34" charset="-120"/>
              </a:rPr>
              <a:t>STRATEGIC PROPOSAL TO THE STELLAR DEVELOPMENT FOUNDATION</a:t>
            </a:r>
            <a:endParaRPr lang="en-US" sz="2400" dirty="0"/>
          </a:p>
        </p:txBody>
      </p:sp>
      <p:sp>
        <p:nvSpPr>
          <p:cNvPr id="3" name="Text 1"/>
          <p:cNvSpPr/>
          <p:nvPr/>
        </p:nvSpPr>
        <p:spPr>
          <a:xfrm>
            <a:off x="731520" y="1051560"/>
            <a:ext cx="10515600" cy="32004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Co-Creating the Global RWA Standard on Soroban Ahead of HackMeridian Lisbon</a:t>
            </a:r>
            <a:endParaRPr lang="en-US" sz="1400" dirty="0"/>
          </a:p>
        </p:txBody>
      </p:sp>
      <p:sp>
        <p:nvSpPr>
          <p:cNvPr id="4" name="Shape 2"/>
          <p:cNvSpPr/>
          <p:nvPr/>
        </p:nvSpPr>
        <p:spPr>
          <a:xfrm>
            <a:off x="731520" y="1645920"/>
            <a:ext cx="10515600" cy="1280160"/>
          </a:xfrm>
          <a:prstGeom prst="roundRect">
            <a:avLst/>
          </a:prstGeom>
          <a:solidFill>
            <a:srgbClr val="FFFFFF"/>
          </a:solidFill>
          <a:ln w="12700">
            <a:solidFill>
              <a:srgbClr val="E5E7EB"/>
            </a:solidFill>
            <a:prstDash val="solid"/>
          </a:ln>
        </p:spPr>
      </p:sp>
      <p:sp>
        <p:nvSpPr>
          <p:cNvPr id="5" name="Text 3"/>
          <p:cNvSpPr/>
          <p:nvPr/>
        </p:nvSpPr>
        <p:spPr>
          <a:xfrm>
            <a:off x="1005840" y="1828800"/>
            <a:ext cx="731520" cy="822960"/>
          </a:xfrm>
          <a:prstGeom prst="rect">
            <a:avLst/>
          </a:prstGeom>
          <a:noFill/>
          <a:ln/>
        </p:spPr>
        <p:txBody>
          <a:bodyPr wrap="square" rtlCol="0" anchor="ctr"/>
          <a:lstStyle/>
          <a:p>
            <a:pPr indent="0" marL="0">
              <a:buNone/>
            </a:pPr>
            <a:r>
              <a:rPr lang="en-US" sz="2400" b="1" dirty="0">
                <a:solidFill>
                  <a:srgbClr val="D97706"/>
                </a:solidFill>
                <a:latin typeface="Arial" pitchFamily="34" charset="0"/>
                <a:ea typeface="Arial" pitchFamily="34" charset="-122"/>
                <a:cs typeface="Arial" pitchFamily="34" charset="-120"/>
              </a:rPr>
              <a:t>01</a:t>
            </a:r>
            <a:endParaRPr lang="en-US" sz="2400" dirty="0"/>
          </a:p>
        </p:txBody>
      </p:sp>
      <p:sp>
        <p:nvSpPr>
          <p:cNvPr id="6" name="Text 4"/>
          <p:cNvSpPr/>
          <p:nvPr/>
        </p:nvSpPr>
        <p:spPr>
          <a:xfrm>
            <a:off x="1828800" y="1828800"/>
            <a:ext cx="9144000" cy="320040"/>
          </a:xfrm>
          <a:prstGeom prst="rect">
            <a:avLst/>
          </a:prstGeom>
          <a:noFill/>
          <a:ln/>
        </p:spPr>
        <p:txBody>
          <a:bodyPr wrap="square" rtlCol="0" anchor="ctr"/>
          <a:lstStyle/>
          <a:p>
            <a:pPr indent="0" marL="0">
              <a:buNone/>
            </a:pPr>
            <a:r>
              <a:rPr lang="en-US" sz="1400" b="1" dirty="0">
                <a:solidFill>
                  <a:srgbClr val="032517"/>
                </a:solidFill>
                <a:latin typeface="Arial" pitchFamily="34" charset="0"/>
                <a:ea typeface="Arial" pitchFamily="34" charset="-122"/>
                <a:cs typeface="Arial" pitchFamily="34" charset="-120"/>
              </a:rPr>
              <a:t>Formal Ratification of SEP-RWA Standard</a:t>
            </a:r>
            <a:endParaRPr lang="en-US" sz="1400" dirty="0"/>
          </a:p>
        </p:txBody>
      </p:sp>
      <p:sp>
        <p:nvSpPr>
          <p:cNvPr id="7" name="Text 5"/>
          <p:cNvSpPr/>
          <p:nvPr/>
        </p:nvSpPr>
        <p:spPr>
          <a:xfrm>
            <a:off x="1828800" y="2148840"/>
            <a:ext cx="9144000" cy="68580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Collaborate with the SDF Standards Committee to refine and adopt our draft specification (docs/SEP_RWA_ATTESTATION_DRAFT.md) as the canonical RWA attestation standard for Soroban.</a:t>
            </a:r>
            <a:endParaRPr lang="en-US" sz="1100" dirty="0"/>
          </a:p>
        </p:txBody>
      </p:sp>
      <p:sp>
        <p:nvSpPr>
          <p:cNvPr id="8" name="Shape 6"/>
          <p:cNvSpPr/>
          <p:nvPr/>
        </p:nvSpPr>
        <p:spPr>
          <a:xfrm>
            <a:off x="731520" y="3108960"/>
            <a:ext cx="10515600" cy="1280160"/>
          </a:xfrm>
          <a:prstGeom prst="roundRect">
            <a:avLst/>
          </a:prstGeom>
          <a:solidFill>
            <a:srgbClr val="FFFFFF"/>
          </a:solidFill>
          <a:ln w="12700">
            <a:solidFill>
              <a:srgbClr val="E5E7EB"/>
            </a:solidFill>
            <a:prstDash val="solid"/>
          </a:ln>
        </p:spPr>
      </p:sp>
      <p:sp>
        <p:nvSpPr>
          <p:cNvPr id="9" name="Text 7"/>
          <p:cNvSpPr/>
          <p:nvPr/>
        </p:nvSpPr>
        <p:spPr>
          <a:xfrm>
            <a:off x="1005840" y="3291840"/>
            <a:ext cx="731520" cy="822960"/>
          </a:xfrm>
          <a:prstGeom prst="rect">
            <a:avLst/>
          </a:prstGeom>
          <a:noFill/>
          <a:ln/>
        </p:spPr>
        <p:txBody>
          <a:bodyPr wrap="square" rtlCol="0" anchor="ctr"/>
          <a:lstStyle/>
          <a:p>
            <a:pPr indent="0" marL="0">
              <a:buNone/>
            </a:pPr>
            <a:r>
              <a:rPr lang="en-US" sz="2400" b="1" dirty="0">
                <a:solidFill>
                  <a:srgbClr val="D97706"/>
                </a:solidFill>
                <a:latin typeface="Arial" pitchFamily="34" charset="0"/>
                <a:ea typeface="Arial" pitchFamily="34" charset="-122"/>
                <a:cs typeface="Arial" pitchFamily="34" charset="-120"/>
              </a:rPr>
              <a:t>02</a:t>
            </a:r>
            <a:endParaRPr lang="en-US" sz="2400" dirty="0"/>
          </a:p>
        </p:txBody>
      </p:sp>
      <p:sp>
        <p:nvSpPr>
          <p:cNvPr id="10" name="Text 8"/>
          <p:cNvSpPr/>
          <p:nvPr/>
        </p:nvSpPr>
        <p:spPr>
          <a:xfrm>
            <a:off x="1828800" y="3291840"/>
            <a:ext cx="9144000" cy="320040"/>
          </a:xfrm>
          <a:prstGeom prst="rect">
            <a:avLst/>
          </a:prstGeom>
          <a:noFill/>
          <a:ln/>
        </p:spPr>
        <p:txBody>
          <a:bodyPr wrap="square" rtlCol="0" anchor="ctr"/>
          <a:lstStyle/>
          <a:p>
            <a:pPr indent="0" marL="0">
              <a:buNone/>
            </a:pPr>
            <a:r>
              <a:rPr lang="en-US" sz="1400" b="1" dirty="0">
                <a:solidFill>
                  <a:srgbClr val="032517"/>
                </a:solidFill>
                <a:latin typeface="Arial" pitchFamily="34" charset="0"/>
                <a:ea typeface="Arial" pitchFamily="34" charset="-122"/>
                <a:cs typeface="Arial" pitchFamily="34" charset="-120"/>
              </a:rPr>
              <a:t>HackMeridian &amp; Meridian Lisbon Anchor Showcase</a:t>
            </a:r>
            <a:endParaRPr lang="en-US" sz="1400" dirty="0"/>
          </a:p>
        </p:txBody>
      </p:sp>
      <p:sp>
        <p:nvSpPr>
          <p:cNvPr id="11" name="Text 9"/>
          <p:cNvSpPr/>
          <p:nvPr/>
        </p:nvSpPr>
        <p:spPr>
          <a:xfrm>
            <a:off x="1828800" y="3611880"/>
            <a:ext cx="9144000" cy="68580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Feature Raíz at Meridian Lisbon as an exemplar of Protocol 22 utility, showcasing live cross-border purchases between European buyers and Oaxacan indigenous producers.</a:t>
            </a:r>
            <a:endParaRPr lang="en-US" sz="1100" dirty="0"/>
          </a:p>
        </p:txBody>
      </p:sp>
      <p:sp>
        <p:nvSpPr>
          <p:cNvPr id="12" name="Shape 10"/>
          <p:cNvSpPr/>
          <p:nvPr/>
        </p:nvSpPr>
        <p:spPr>
          <a:xfrm>
            <a:off x="731520" y="4572000"/>
            <a:ext cx="10515600" cy="1280160"/>
          </a:xfrm>
          <a:prstGeom prst="roundRect">
            <a:avLst/>
          </a:prstGeom>
          <a:solidFill>
            <a:srgbClr val="FFFFFF"/>
          </a:solidFill>
          <a:ln w="12700">
            <a:solidFill>
              <a:srgbClr val="E5E7EB"/>
            </a:solidFill>
            <a:prstDash val="solid"/>
          </a:ln>
        </p:spPr>
      </p:sp>
      <p:sp>
        <p:nvSpPr>
          <p:cNvPr id="13" name="Text 11"/>
          <p:cNvSpPr/>
          <p:nvPr/>
        </p:nvSpPr>
        <p:spPr>
          <a:xfrm>
            <a:off x="1005840" y="4754880"/>
            <a:ext cx="731520" cy="822960"/>
          </a:xfrm>
          <a:prstGeom prst="rect">
            <a:avLst/>
          </a:prstGeom>
          <a:noFill/>
          <a:ln/>
        </p:spPr>
        <p:txBody>
          <a:bodyPr wrap="square" rtlCol="0" anchor="ctr"/>
          <a:lstStyle/>
          <a:p>
            <a:pPr indent="0" marL="0">
              <a:buNone/>
            </a:pPr>
            <a:r>
              <a:rPr lang="en-US" sz="2400" b="1" dirty="0">
                <a:solidFill>
                  <a:srgbClr val="D97706"/>
                </a:solidFill>
                <a:latin typeface="Arial" pitchFamily="34" charset="0"/>
                <a:ea typeface="Arial" pitchFamily="34" charset="-122"/>
                <a:cs typeface="Arial" pitchFamily="34" charset="-120"/>
              </a:rPr>
              <a:t>03</a:t>
            </a:r>
            <a:endParaRPr lang="en-US" sz="2400" dirty="0"/>
          </a:p>
        </p:txBody>
      </p:sp>
      <p:sp>
        <p:nvSpPr>
          <p:cNvPr id="14" name="Text 12"/>
          <p:cNvSpPr/>
          <p:nvPr/>
        </p:nvSpPr>
        <p:spPr>
          <a:xfrm>
            <a:off x="1828800" y="4754880"/>
            <a:ext cx="9144000" cy="320040"/>
          </a:xfrm>
          <a:prstGeom prst="rect">
            <a:avLst/>
          </a:prstGeom>
          <a:noFill/>
          <a:ln/>
        </p:spPr>
        <p:txBody>
          <a:bodyPr wrap="square" rtlCol="0" anchor="ctr"/>
          <a:lstStyle/>
          <a:p>
            <a:pPr indent="0" marL="0">
              <a:buNone/>
            </a:pPr>
            <a:r>
              <a:rPr lang="en-US" sz="1400" b="1" dirty="0">
                <a:solidFill>
                  <a:srgbClr val="032517"/>
                </a:solidFill>
                <a:latin typeface="Arial" pitchFamily="34" charset="0"/>
                <a:ea typeface="Arial" pitchFamily="34" charset="-122"/>
                <a:cs typeface="Arial" pitchFamily="34" charset="-120"/>
              </a:rPr>
              <a:t>University Hub Developer Grant Support</a:t>
            </a:r>
            <a:endParaRPr lang="en-US" sz="1400" dirty="0"/>
          </a:p>
        </p:txBody>
      </p:sp>
      <p:sp>
        <p:nvSpPr>
          <p:cNvPr id="15" name="Text 13"/>
          <p:cNvSpPr/>
          <p:nvPr/>
        </p:nvSpPr>
        <p:spPr>
          <a:xfrm>
            <a:off x="1828800" y="5074920"/>
            <a:ext cx="9144000" cy="685800"/>
          </a:xfrm>
          <a:prstGeom prst="rect">
            <a:avLst/>
          </a:prstGeom>
          <a:noFill/>
          <a:ln/>
        </p:spPr>
        <p:txBody>
          <a:bodyPr wrap="square" rtlCol="0" anchor="ctr"/>
          <a:lstStyle/>
          <a:p>
            <a:pPr indent="0" marL="0">
              <a:lnSpc>
                <a:spcPts val="1600"/>
              </a:lnSpc>
              <a:buNone/>
            </a:pPr>
            <a:r>
              <a:rPr lang="en-US" sz="1100" dirty="0">
                <a:solidFill>
                  <a:srgbClr val="1C2421"/>
                </a:solidFill>
                <a:latin typeface="Arial" pitchFamily="34" charset="0"/>
                <a:ea typeface="Arial" pitchFamily="34" charset="-122"/>
                <a:cs typeface="Arial" pitchFamily="34" charset="-120"/>
              </a:rPr>
              <a:t>Capitalize the Open Hub TecNM residency program to fund ongoing student developer bounties and scale our on-chain pilot from 50 to 500 indigenous cooperatives across southern Mexico.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32517"/>
        </a:solidFill>
      </p:bgPr>
    </p:bg>
    <p:spTree>
      <p:nvGrpSpPr>
        <p:cNvPr id="1" name=""/>
        <p:cNvGrpSpPr/>
        <p:nvPr/>
      </p:nvGrpSpPr>
      <p:grpSpPr>
        <a:xfrm>
          <a:off x="0" y="0"/>
          <a:ext cx="0" cy="0"/>
          <a:chOff x="0" y="0"/>
          <a:chExt cx="0" cy="0"/>
        </a:xfrm>
      </p:grpSpPr>
      <p:sp>
        <p:nvSpPr>
          <p:cNvPr id="2" name="Text 0"/>
          <p:cNvSpPr/>
          <p:nvPr/>
        </p:nvSpPr>
        <p:spPr>
          <a:xfrm>
            <a:off x="731520" y="914400"/>
            <a:ext cx="10515600" cy="457200"/>
          </a:xfrm>
          <a:prstGeom prst="rect">
            <a:avLst/>
          </a:prstGeom>
          <a:noFill/>
          <a:ln/>
        </p:spPr>
        <p:txBody>
          <a:bodyPr wrap="square" rtlCol="0" anchor="ctr"/>
          <a:lstStyle/>
          <a:p>
            <a:pPr indent="0" marL="0">
              <a:buNone/>
            </a:pPr>
            <a:r>
              <a:rPr lang="en-US" sz="1600" b="1" spc="200" kern="0" dirty="0">
                <a:solidFill>
                  <a:srgbClr val="D97706"/>
                </a:solidFill>
                <a:latin typeface="Arial" pitchFamily="34" charset="0"/>
                <a:ea typeface="Arial" pitchFamily="34" charset="-122"/>
                <a:cs typeface="Arial" pitchFamily="34" charset="-120"/>
              </a:rPr>
              <a:t>THE TRUE PROMISE OF STELLAR</a:t>
            </a:r>
            <a:endParaRPr lang="en-US" sz="1600" dirty="0"/>
          </a:p>
        </p:txBody>
      </p:sp>
      <p:sp>
        <p:nvSpPr>
          <p:cNvPr id="3" name="Text 1"/>
          <p:cNvSpPr/>
          <p:nvPr/>
        </p:nvSpPr>
        <p:spPr>
          <a:xfrm>
            <a:off x="731520" y="1645920"/>
            <a:ext cx="10515600" cy="1645920"/>
          </a:xfrm>
          <a:prstGeom prst="rect">
            <a:avLst/>
          </a:prstGeom>
          <a:noFill/>
          <a:ln/>
        </p:spPr>
        <p:txBody>
          <a:bodyPr wrap="square" rtlCol="0" anchor="ctr"/>
          <a:lstStyle/>
          <a:p>
            <a:pPr indent="0" marL="0">
              <a:lnSpc>
                <a:spcPts val="3400"/>
              </a:lnSpc>
              <a:buNone/>
            </a:pPr>
            <a:r>
              <a:rPr lang="en-US" sz="2400" i="1" dirty="0">
                <a:solidFill>
                  <a:srgbClr val="FFFFFF"/>
                </a:solidFill>
                <a:latin typeface="Georgia" pitchFamily="34" charset="0"/>
                <a:ea typeface="Georgia" pitchFamily="34" charset="-122"/>
                <a:cs typeface="Georgia" pitchFamily="34" charset="-120"/>
              </a:rPr>
              <a:t>“Real-world assets are not just treasury bills in institutional vaults; they are the heritage, harvests, and hands of the communities that sustain our world.”</a:t>
            </a:r>
            <a:endParaRPr lang="en-US" sz="2400" dirty="0"/>
          </a:p>
        </p:txBody>
      </p:sp>
      <p:sp>
        <p:nvSpPr>
          <p:cNvPr id="4" name="Shape 2"/>
          <p:cNvSpPr/>
          <p:nvPr/>
        </p:nvSpPr>
        <p:spPr>
          <a:xfrm>
            <a:off x="731520" y="3566160"/>
            <a:ext cx="10515600" cy="36576"/>
          </a:xfrm>
          <a:prstGeom prst="rect">
            <a:avLst/>
          </a:prstGeom>
          <a:solidFill>
            <a:srgbClr val="D97706"/>
          </a:solidFill>
          <a:ln w="12700">
            <a:solidFill>
              <a:srgbClr val="D97706"/>
            </a:solidFill>
            <a:prstDash val="solid"/>
          </a:ln>
        </p:spPr>
      </p:sp>
      <p:sp>
        <p:nvSpPr>
          <p:cNvPr id="5" name="Text 3"/>
          <p:cNvSpPr/>
          <p:nvPr/>
        </p:nvSpPr>
        <p:spPr>
          <a:xfrm>
            <a:off x="731520" y="3931920"/>
            <a:ext cx="3200400" cy="274320"/>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OPEN-SOURCE REPOSITORY</a:t>
            </a:r>
            <a:endParaRPr lang="en-US" sz="1000" dirty="0"/>
          </a:p>
        </p:txBody>
      </p:sp>
      <p:sp>
        <p:nvSpPr>
          <p:cNvPr id="6" name="Text 4"/>
          <p:cNvSpPr/>
          <p:nvPr/>
        </p:nvSpPr>
        <p:spPr>
          <a:xfrm>
            <a:off x="4114800" y="3931920"/>
            <a:ext cx="713232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https://github.com/Open-Hub-Tec/raiz</a:t>
            </a:r>
            <a:endParaRPr lang="en-US" sz="1200" dirty="0"/>
          </a:p>
        </p:txBody>
      </p:sp>
      <p:sp>
        <p:nvSpPr>
          <p:cNvPr id="7" name="Text 5"/>
          <p:cNvSpPr/>
          <p:nvPr/>
        </p:nvSpPr>
        <p:spPr>
          <a:xfrm>
            <a:off x="731520" y="4572000"/>
            <a:ext cx="3200400" cy="274320"/>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ACADEMIC INSTITUTION</a:t>
            </a:r>
            <a:endParaRPr lang="en-US" sz="1000" dirty="0"/>
          </a:p>
        </p:txBody>
      </p:sp>
      <p:sp>
        <p:nvSpPr>
          <p:cNvPr id="8" name="Text 6"/>
          <p:cNvSpPr/>
          <p:nvPr/>
        </p:nvSpPr>
        <p:spPr>
          <a:xfrm>
            <a:off x="4114800" y="4572000"/>
            <a:ext cx="713232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Open Hub TecNM · Instituto Tecnológico de Tlaxiaco, Oaxaca, Mexico</a:t>
            </a:r>
            <a:endParaRPr lang="en-US" sz="1200" dirty="0"/>
          </a:p>
        </p:txBody>
      </p:sp>
      <p:sp>
        <p:nvSpPr>
          <p:cNvPr id="9" name="Text 7"/>
          <p:cNvSpPr/>
          <p:nvPr/>
        </p:nvSpPr>
        <p:spPr>
          <a:xfrm>
            <a:off x="731520" y="5212080"/>
            <a:ext cx="3200400" cy="274320"/>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LEAD RESEARCHER</a:t>
            </a:r>
            <a:endParaRPr lang="en-US" sz="1000" dirty="0"/>
          </a:p>
        </p:txBody>
      </p:sp>
      <p:sp>
        <p:nvSpPr>
          <p:cNvPr id="10" name="Text 8"/>
          <p:cNvSpPr/>
          <p:nvPr/>
        </p:nvSpPr>
        <p:spPr>
          <a:xfrm>
            <a:off x="4114800" y="5212080"/>
            <a:ext cx="713232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Prof. José Alfredo Román Cruz · tecnologicotlaxiaco@gmail.com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Instituto Tecnológico de Tlaxiaco / Open Hub TecNM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Raíz Protocol - Stellar Soroban Pitch Deck</dc:title>
  <dc:subject>On-Chain Verifiable RWA Attestations &amp; Fair Escrow Infrastructure</dc:subject>
  <dc:creator>Prof. José Alfredo Román Cruz &amp; Open Hub TecNM</dc:creator>
  <cp:lastModifiedBy>Prof. José Alfredo Román Cruz &amp; Open Hub TecNM</cp:lastModifiedBy>
  <cp:revision>1</cp:revision>
  <dcterms:created xsi:type="dcterms:W3CDTF">2026-09-30T18:51:15Z</dcterms:created>
  <dcterms:modified xsi:type="dcterms:W3CDTF">2026-09-30T18:51:15Z</dcterms:modified>
</cp:coreProperties>
</file>